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5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9725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RM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324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FFFFFF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40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· 2026</a:t>
            </a:r>
            <a:endParaRPr lang="en-US" sz="1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371600"/>
            <a:ext cx="5943600" cy="1554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DFBF7">
                    <a:alpha val="90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better arrival starts with the </a:t>
            </a:r>
            <a:r>
              <a:rPr lang="en-US" sz="3000" i="1" dirty="0">
                <a:solidFill>
                  <a:srgbClr val="03241E">
                    <a:alpha val="90000"/>
                  </a:srgbClr>
                </a:solidFill>
                <a:highlight>
                  <a:srgbClr val="F2C62C"/>
                </a:highlight>
                <a:latin typeface="Fraunces" pitchFamily="34" charset="0"/>
                <a:ea typeface="Fraunces" pitchFamily="34" charset="-122"/>
                <a:cs typeface="Fraunces" pitchFamily="34" charset="-120"/>
              </a:rPr>
              <a:t>first call</a:t>
            </a:r>
            <a:r>
              <a:rPr lang="en-US" sz="3000" i="1" dirty="0">
                <a:solidFill>
                  <a:srgbClr val="FDFBF7">
                    <a:alpha val="90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8580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Rakhmatjon</a:t>
            </a:r>
            <a:r>
              <a:rPr lang="en-US" sz="1200" dirty="0">
                <a:solidFill>
                  <a:srgbClr val="FDFBF7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Founder</a:t>
            </a:r>
            <a:r>
              <a:rPr lang="en-US" sz="1200" dirty="0">
                <a:solidFill>
                  <a:srgbClr val="FDFBF7">
                    <a:alpha val="3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·     </a:t>
            </a:r>
            <a:r>
              <a:rPr lang="en-US" sz="1200" b="1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Nurislombek</a:t>
            </a:r>
            <a:r>
              <a:rPr lang="en-US" sz="1200" dirty="0">
                <a:solidFill>
                  <a:srgbClr val="FDFBF7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Technical Co-Founder</a:t>
            </a:r>
            <a:r>
              <a:rPr lang="en-US" sz="1200" dirty="0">
                <a:solidFill>
                  <a:srgbClr val="FDFBF7">
                    <a:alpha val="3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·     </a:t>
            </a:r>
            <a:r>
              <a:rPr lang="en-US" sz="1200" dirty="0">
                <a:solidFill>
                  <a:srgbClr val="FDFBF7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Cincinnati, OH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Hotels are losing bookings </a:t>
            </a:r>
            <a:r>
              <a:rPr lang="en-US" sz="4400" i="1" kern="0" spc="-100" dirty="0">
                <a:solidFill>
                  <a:srgbClr val="03241E"/>
                </a:solidFill>
                <a:highlight>
                  <a:srgbClr val="F2C62C"/>
                </a:highlight>
                <a:latin typeface="Fraunces" pitchFamily="34" charset="0"/>
                <a:ea typeface="Fraunces" pitchFamily="34" charset="-122"/>
                <a:cs typeface="Fraunces" pitchFamily="34" charset="-120"/>
              </a:rPr>
              <a:t>every hour the phone rings</a:t>
            </a:r>
            <a:r>
              <a:rPr lang="en-US" sz="44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3017520"/>
            <a:ext cx="3566160" cy="0"/>
          </a:xfrm>
          <a:prstGeom prst="line">
            <a:avLst/>
          </a:prstGeom>
          <a:noFill/>
          <a:ln w="19050">
            <a:solidFill>
              <a:srgbClr val="03241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685800" y="31546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0" kern="0" spc="-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r>
              <a:rPr lang="en-US" sz="6800" i="1" kern="0" spc="-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in </a:t>
            </a:r>
            <a:r>
              <a:rPr lang="en-US" sz="6800" kern="0" spc="-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6800" dirty="0"/>
          </a:p>
        </p:txBody>
      </p:sp>
      <p:sp>
        <p:nvSpPr>
          <p:cNvPr id="8" name="Text 6"/>
          <p:cNvSpPr/>
          <p:nvPr/>
        </p:nvSpPr>
        <p:spPr>
          <a:xfrm>
            <a:off x="68580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CALLS UNANSWERED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48463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During busy shifts and after hours — every one is a booking lost to an OTA, a competitor, or silence.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34840" y="3017520"/>
            <a:ext cx="3566160" cy="0"/>
          </a:xfrm>
          <a:prstGeom prst="line">
            <a:avLst/>
          </a:prstGeom>
          <a:noFill/>
          <a:ln w="19050">
            <a:solidFill>
              <a:srgbClr val="03241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4434840" y="31546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0" kern="0" spc="-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$12</a:t>
            </a:r>
            <a:r>
              <a:rPr lang="en-US" sz="6800" i="1" kern="0" spc="-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k</a:t>
            </a:r>
            <a:endParaRPr lang="en-US" sz="6800" i="1" dirty="0"/>
          </a:p>
        </p:txBody>
      </p:sp>
      <p:sp>
        <p:nvSpPr>
          <p:cNvPr id="12" name="Text 10"/>
          <p:cNvSpPr/>
          <p:nvPr/>
        </p:nvSpPr>
        <p:spPr>
          <a:xfrm>
            <a:off x="443484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DIRECT BOOKINGS LOST / MONTH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48463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handful of unanswered calls a day compounds fast. The callers were ready — they just needed a human on the line.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3880" y="3017520"/>
            <a:ext cx="3566160" cy="0"/>
          </a:xfrm>
          <a:prstGeom prst="line">
            <a:avLst/>
          </a:prstGeom>
          <a:noFill/>
          <a:ln w="19050">
            <a:solidFill>
              <a:srgbClr val="03241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8183880" y="31546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0" kern="0" spc="-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2.5 </a:t>
            </a:r>
            <a:r>
              <a:rPr lang="en-US" sz="6800" i="1" kern="0" spc="-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hrs</a:t>
            </a:r>
            <a:endParaRPr lang="en-US" sz="6800" i="1" dirty="0"/>
          </a:p>
        </p:txBody>
      </p:sp>
      <p:sp>
        <p:nvSpPr>
          <p:cNvPr id="16" name="Text 14"/>
          <p:cNvSpPr/>
          <p:nvPr/>
        </p:nvSpPr>
        <p:spPr>
          <a:xfrm>
            <a:off x="818388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TIME ON FAQ / DAY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83880" y="48463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Parking. Pets. Breakfast. Check-in. Dozens of times a day, pulling staff from guests standing right in front of them.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80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call centers cost </a:t>
            </a:r>
            <a:r>
              <a:rPr lang="en-US" sz="1150" b="1" i="1" dirty="0">
                <a:solidFill>
                  <a:srgbClr val="032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$2.50 / call</a:t>
            </a:r>
            <a:r>
              <a:rPr lang="en-US" sz="1150" i="1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they take messages, don't capture bookings, don't see the PMS.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curves crossed in the last </a:t>
            </a:r>
            <a:r>
              <a:rPr lang="en-US" sz="42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 months</a:t>
            </a:r>
            <a:r>
              <a:rPr lang="en-US" sz="42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241E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3337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Voice AI crossed the line.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42519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latency under 300ms. Natural prosody. The guest on the other end can't tell — and doesn't care to.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34840" y="3017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241E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3337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PMS APIs finally opened up.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34840" y="42519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HotelKey, Opera, Cloudbeds, Mews — stable, documented, no longer gated to enterprise integrations only.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83880" y="3017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241E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3337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Hotel labor is structurally short.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183880" y="42519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Front-desk wages up 25%+ post-COVID. Small-property understaffing isn't a cycle — it's the new baseline.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897880"/>
            <a:ext cx="10789920" cy="0"/>
          </a:xfrm>
          <a:prstGeom prst="line">
            <a:avLst/>
          </a:prstGeom>
          <a:noFill/>
          <a:ln w="9525">
            <a:solidFill>
              <a:srgbClr val="03241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6" name="Text 14"/>
          <p:cNvSpPr/>
          <p:nvPr/>
        </p:nvSpPr>
        <p:spPr>
          <a:xfrm>
            <a:off x="685800" y="6035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Small hotels couldn't afford call centers or enterprise AI. </a:t>
            </a:r>
            <a:r>
              <a:rPr lang="en-US" sz="1600" i="1" dirty="0">
                <a:solidFill>
                  <a:srgbClr val="03241E"/>
                </a:solidFill>
                <a:highlight>
                  <a:srgbClr val="F2C62C"/>
                </a:highlight>
                <a:latin typeface="Fraunces" pitchFamily="34" charset="0"/>
                <a:ea typeface="Fraunces" pitchFamily="34" charset="-122"/>
                <a:cs typeface="Fraunces" pitchFamily="34" charset="-120"/>
              </a:rPr>
              <a:t>Now they get both, in one line.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15</a:t>
            </a:r>
            <a:endParaRPr lang="en-US" sz="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658368"/>
            <a:ext cx="118872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011680" y="6583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PRESENTS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85800" y="124358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" name="Text 3"/>
          <p:cNvSpPr/>
          <p:nvPr/>
        </p:nvSpPr>
        <p:spPr>
          <a:xfrm>
            <a:off x="1097280" y="11212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858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kern="0" spc="-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Meet </a:t>
            </a:r>
            <a:r>
              <a:rPr lang="en-US" sz="7200" i="1" kern="0" spc="-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Arvy</a:t>
            </a:r>
            <a:r>
              <a:rPr lang="en-US" sz="7200" kern="0" spc="-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685800" y="33375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3241E">
                    <a:alpha val="90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AI voice that </a:t>
            </a:r>
            <a:r>
              <a:rPr lang="en-US" sz="2200" dirty="0">
                <a:solidFill>
                  <a:srgbClr val="03241E">
                    <a:alpha val="90000"/>
                  </a:srgbClr>
                </a:solidFill>
                <a:highlight>
                  <a:srgbClr val="F2C62C"/>
                </a:highlight>
                <a:latin typeface="Fraunces" pitchFamily="34" charset="0"/>
                <a:ea typeface="Fraunces" pitchFamily="34" charset="-122"/>
                <a:cs typeface="Fraunces" pitchFamily="34" charset="-120"/>
              </a:rPr>
              <a:t>answers every guest call</a:t>
            </a:r>
            <a:r>
              <a:rPr lang="en-US" sz="2200" dirty="0">
                <a:solidFill>
                  <a:srgbClr val="03241E">
                    <a:alpha val="90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85800" y="4462272"/>
            <a:ext cx="128016" cy="128016"/>
          </a:xfrm>
          <a:prstGeom prst="rect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0" name="Text 7"/>
          <p:cNvSpPr/>
          <p:nvPr/>
        </p:nvSpPr>
        <p:spPr>
          <a:xfrm>
            <a:off x="960120" y="43434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every call, 24/7, in your hotel's voice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4873752"/>
            <a:ext cx="128016" cy="128016"/>
          </a:xfrm>
          <a:prstGeom prst="rect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2" name="Text 9"/>
          <p:cNvSpPr/>
          <p:nvPr/>
        </p:nvSpPr>
        <p:spPr>
          <a:xfrm>
            <a:off x="960120" y="475488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Captures bookings live — writes to your PMS mid-call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85800" y="5285232"/>
            <a:ext cx="128016" cy="128016"/>
          </a:xfrm>
          <a:prstGeom prst="rect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4" name="Text 11"/>
          <p:cNvSpPr/>
          <p:nvPr/>
        </p:nvSpPr>
        <p:spPr>
          <a:xfrm>
            <a:off x="960120" y="516636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Handles routine FAQ in under 30 seconds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5696712"/>
            <a:ext cx="128016" cy="128016"/>
          </a:xfrm>
          <a:prstGeom prst="rect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6" name="Text 13"/>
          <p:cNvSpPr/>
          <p:nvPr/>
        </p:nvSpPr>
        <p:spPr>
          <a:xfrm>
            <a:off x="960120" y="557784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Escalates with context — reservation note, pre-briefed transfer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132320" y="1234440"/>
            <a:ext cx="4343400" cy="44805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8" name="Shape 15"/>
          <p:cNvSpPr/>
          <p:nvPr/>
        </p:nvSpPr>
        <p:spPr>
          <a:xfrm>
            <a:off x="7360920" y="1874520"/>
            <a:ext cx="3886200" cy="0"/>
          </a:xfrm>
          <a:prstGeom prst="line">
            <a:avLst/>
          </a:prstGeom>
          <a:noFill/>
          <a:ln w="9525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Shape 16"/>
          <p:cNvSpPr/>
          <p:nvPr/>
        </p:nvSpPr>
        <p:spPr>
          <a:xfrm>
            <a:off x="7406640" y="1508760"/>
            <a:ext cx="146304" cy="146304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20" name="Text 17"/>
          <p:cNvSpPr/>
          <p:nvPr/>
        </p:nvSpPr>
        <p:spPr>
          <a:xfrm>
            <a:off x="7635240" y="14356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CALL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37844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6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11:42 PM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406640" y="2148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06640" y="2377440"/>
            <a:ext cx="3794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chance you have a king tonight?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406640" y="3017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ARVY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06640" y="324612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king at $189, breakfast included. Whose name shall I put the reservation under?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360920" y="4937760"/>
            <a:ext cx="3886200" cy="0"/>
          </a:xfrm>
          <a:prstGeom prst="line">
            <a:avLst/>
          </a:prstGeom>
          <a:noFill/>
          <a:ln w="9525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Shape 24"/>
          <p:cNvSpPr/>
          <p:nvPr/>
        </p:nvSpPr>
        <p:spPr>
          <a:xfrm>
            <a:off x="7406640" y="512064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03241E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28" name="Text 25"/>
          <p:cNvSpPr/>
          <p:nvPr/>
        </p:nvSpPr>
        <p:spPr>
          <a:xfrm>
            <a:off x="7406640" y="51206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BOOKING CAPTURED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9829800" y="5166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6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0:42 · synced to PMS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kinds of calls. </a:t>
            </a:r>
            <a:r>
              <a:rPr lang="en-US" sz="42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steady voice</a:t>
            </a:r>
            <a:r>
              <a:rPr lang="en-US" sz="42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85800" y="2834640"/>
            <a:ext cx="3566160" cy="2331720"/>
          </a:xfrm>
          <a:prstGeom prst="roundRect">
            <a:avLst>
              <a:gd name="adj" fmla="val 5882"/>
            </a:avLst>
          </a:prstGeom>
          <a:solidFill>
            <a:srgbClr val="FDFBF7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3241E">
                    <a:alpha val="4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57400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BOOKING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60120" y="34747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Reservation written straight into the PMS.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60120" y="4526280"/>
            <a:ext cx="3017520" cy="0"/>
          </a:xfrm>
          <a:prstGeom prst="line">
            <a:avLst/>
          </a:prstGeom>
          <a:noFill/>
          <a:ln w="9525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Shape 9"/>
          <p:cNvSpPr/>
          <p:nvPr/>
        </p:nvSpPr>
        <p:spPr>
          <a:xfrm>
            <a:off x="960120" y="4709160"/>
            <a:ext cx="1920240" cy="320040"/>
          </a:xfrm>
          <a:prstGeom prst="roundRect">
            <a:avLst>
              <a:gd name="adj" fmla="val 57143"/>
            </a:avLst>
          </a:prstGeom>
          <a:solidFill>
            <a:srgbClr val="03241E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2" name="Text 10"/>
          <p:cNvSpPr/>
          <p:nvPr/>
        </p:nvSpPr>
        <p:spPr>
          <a:xfrm>
            <a:off x="960120" y="47091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400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BOOKING CAPTURED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06040" y="4736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36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0:42 · synced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434840" y="2834640"/>
            <a:ext cx="3566160" cy="2331720"/>
          </a:xfrm>
          <a:prstGeom prst="roundRect">
            <a:avLst>
              <a:gd name="adj" fmla="val 5882"/>
            </a:avLst>
          </a:prstGeom>
          <a:solidFill>
            <a:srgbClr val="FDFBF7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4709160" y="3063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3241E">
                    <a:alpha val="4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806440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RETURNING GUEST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09160" y="34747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Profile + prior stays pulled in real time.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709160" y="4526280"/>
            <a:ext cx="3017520" cy="0"/>
          </a:xfrm>
          <a:prstGeom prst="line">
            <a:avLst/>
          </a:prstGeom>
          <a:noFill/>
          <a:ln w="9525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Shape 17"/>
          <p:cNvSpPr/>
          <p:nvPr/>
        </p:nvSpPr>
        <p:spPr>
          <a:xfrm>
            <a:off x="4709160" y="4709160"/>
            <a:ext cx="1920240" cy="320040"/>
          </a:xfrm>
          <a:prstGeom prst="roundRect">
            <a:avLst>
              <a:gd name="adj" fmla="val 57143"/>
            </a:avLst>
          </a:prstGeom>
          <a:solidFill>
            <a:srgbClr val="03241E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20" name="Text 18"/>
          <p:cNvSpPr/>
          <p:nvPr/>
        </p:nvSpPr>
        <p:spPr>
          <a:xfrm>
            <a:off x="4709160" y="47091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400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CONFIRMED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355080" y="4736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36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0:28 · no transfer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183880" y="2834640"/>
            <a:ext cx="3566160" cy="2331720"/>
          </a:xfrm>
          <a:prstGeom prst="roundRect">
            <a:avLst>
              <a:gd name="adj" fmla="val 5882"/>
            </a:avLst>
          </a:prstGeom>
          <a:solidFill>
            <a:srgbClr val="FDFBF7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8458200" y="3063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3241E">
                    <a:alpha val="4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ESCALATION WITH CONTEXT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58200" y="34747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Transferred with the note already written.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458200" y="4526280"/>
            <a:ext cx="3017520" cy="0"/>
          </a:xfrm>
          <a:prstGeom prst="line">
            <a:avLst/>
          </a:prstGeom>
          <a:noFill/>
          <a:ln w="9525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Shape 25"/>
          <p:cNvSpPr/>
          <p:nvPr/>
        </p:nvSpPr>
        <p:spPr>
          <a:xfrm>
            <a:off x="8458200" y="4709160"/>
            <a:ext cx="1920240" cy="320040"/>
          </a:xfrm>
          <a:prstGeom prst="roundRect">
            <a:avLst>
              <a:gd name="adj" fmla="val 57143"/>
            </a:avLst>
          </a:prstGeom>
          <a:solidFill>
            <a:srgbClr val="03241E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28" name="Text 26"/>
          <p:cNvSpPr/>
          <p:nvPr/>
        </p:nvSpPr>
        <p:spPr>
          <a:xfrm>
            <a:off x="8458200" y="47091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400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TRANSFERRED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104120" y="4736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36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0:16 · to ext. 100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5577840"/>
            <a:ext cx="10789920" cy="0"/>
          </a:xfrm>
          <a:prstGeom prst="line">
            <a:avLst/>
          </a:prstGeom>
          <a:noFill/>
          <a:ln w="6350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1" name="Text 29"/>
          <p:cNvSpPr/>
          <p:nvPr/>
        </p:nvSpPr>
        <p:spPr>
          <a:xfrm>
            <a:off x="685800" y="5669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INTEGRATES DIRECTLY WITH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0" y="5669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PMS read + write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608076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635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4" name="Text 32"/>
          <p:cNvSpPr/>
          <p:nvPr/>
        </p:nvSpPr>
        <p:spPr>
          <a:xfrm>
            <a:off x="868680" y="6172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HotelKey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468880" y="608076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635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6" name="Text 34"/>
          <p:cNvSpPr/>
          <p:nvPr/>
        </p:nvSpPr>
        <p:spPr>
          <a:xfrm>
            <a:off x="2651760" y="6172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Opera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51960" y="608076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635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8" name="Text 36"/>
          <p:cNvSpPr/>
          <p:nvPr/>
        </p:nvSpPr>
        <p:spPr>
          <a:xfrm>
            <a:off x="4434840" y="6172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Cloudbeds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035040" y="608076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635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0" name="Text 38"/>
          <p:cNvSpPr/>
          <p:nvPr/>
        </p:nvSpPr>
        <p:spPr>
          <a:xfrm>
            <a:off x="6217920" y="6172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Mews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818120" y="608076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635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2" name="Text 40"/>
          <p:cNvSpPr/>
          <p:nvPr/>
        </p:nvSpPr>
        <p:spPr>
          <a:xfrm>
            <a:off x="8001000" y="6172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Twilio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601200" y="608076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635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4" name="Text 42"/>
          <p:cNvSpPr/>
          <p:nvPr/>
        </p:nvSpPr>
        <p:spPr>
          <a:xfrm>
            <a:off x="9784080" y="6172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Stayntouch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FOUNDER-PRODUCT FIT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5943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 lived the missed call </a:t>
            </a:r>
            <a:r>
              <a:rPr lang="en-US" sz="40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every shift</a:t>
            </a:r>
            <a:r>
              <a:rPr lang="en-US" sz="4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83464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Three-plus years working the US hotel industry — watching bookings walk to OTAs because the phone rang during check-in. This isn't a thesis. It's the job I had.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411480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built Arryve for the person behind the desk. Hospitality is human; the phone work is the part we can take off their plate.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40880" y="1188720"/>
            <a:ext cx="4434840" cy="4754880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9" name="Text 7"/>
          <p:cNvSpPr/>
          <p:nvPr/>
        </p:nvSpPr>
        <p:spPr>
          <a:xfrm>
            <a:off x="7360920" y="150876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BRING TO THIS PROBLEM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60920" y="2103120"/>
            <a:ext cx="109728" cy="109728"/>
          </a:xfrm>
          <a:prstGeom prst="rect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758952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3+ years in US hotel operations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89520" y="23317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Front-desk and operations roles at [specific HIE / Holiday Inn properties].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60920" y="3035808"/>
            <a:ext cx="109728" cy="109728"/>
          </a:xfrm>
          <a:prstGeom prst="rect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4" name="Text 12"/>
          <p:cNvSpPr/>
          <p:nvPr/>
        </p:nvSpPr>
        <p:spPr>
          <a:xfrm>
            <a:off x="7589520" y="2990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network in the Midwest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0" y="32644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[~N hotelier relationships] across OH / KY / IN — warm-intro velocity that cold outbound can't match.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60920" y="3968496"/>
            <a:ext cx="109728" cy="109728"/>
          </a:xfrm>
          <a:prstGeom prst="rect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7" name="Text 15"/>
          <p:cNvSpPr/>
          <p:nvPr/>
        </p:nvSpPr>
        <p:spPr>
          <a:xfrm>
            <a:off x="7589520" y="39227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Uzbek + English fluency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0" y="419709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Unlocks the Cincinnati Uzbek-American hotelier network — a distribution wedge no one else has.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4901184"/>
            <a:ext cx="109728" cy="109728"/>
          </a:xfrm>
          <a:prstGeom prst="rect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20" name="Text 18"/>
          <p:cNvSpPr/>
          <p:nvPr/>
        </p:nvSpPr>
        <p:spPr>
          <a:xfrm>
            <a:off x="7589520" y="48554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co-founder: Nurislombek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0" y="512978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[Engineering background — voice AI / systems experience].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large, </a:t>
            </a:r>
            <a:r>
              <a:rPr lang="en-US" sz="4200" kern="0" spc="-100" dirty="0">
                <a:solidFill>
                  <a:srgbClr val="03241E"/>
                </a:solidFill>
                <a:highlight>
                  <a:srgbClr val="F2C62C"/>
                </a:highlight>
                <a:latin typeface="Fraunces" pitchFamily="34" charset="0"/>
                <a:ea typeface="Fraunces" pitchFamily="34" charset="-122"/>
                <a:cs typeface="Fraunces" pitchFamily="34" charset="-120"/>
              </a:rPr>
              <a:t>underserved wedge</a:t>
            </a:r>
            <a:r>
              <a:rPr lang="en-US" sz="42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85800" y="265176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FDFBF7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1005840" y="28803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kern="0" spc="-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~40K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 SMALL &amp; MID-SIZED HOTELS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41605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Independents and franchisees — our direct target. (Total US: ~60K.)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265176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03241E"/>
          </a:solidFill>
          <a:ln w="9525">
            <a:solidFill>
              <a:srgbClr val="03241E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4754880" y="28803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kern="0" spc="-2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$860M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4754880" y="3840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DFBF7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 TAM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41605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DFBF7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40K × $21,588/yr (Property annual). Before international expansion.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83880" y="2651760"/>
            <a:ext cx="3566160" cy="2103120"/>
          </a:xfrm>
          <a:prstGeom prst="roundRect">
            <a:avLst>
              <a:gd name="adj" fmla="val 6522"/>
            </a:avLst>
          </a:prstGeom>
          <a:solidFill>
            <a:srgbClr val="FDFBF7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8503920" y="28803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kern="0" spc="-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~$320M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503920" y="3840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NEAR-TERM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03920" y="41605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~15K properties on HotelKey / Opera / Cloudbeds / Mews today.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5074920"/>
            <a:ext cx="10789920" cy="0"/>
          </a:xfrm>
          <a:prstGeom prst="line">
            <a:avLst/>
          </a:prstGeom>
          <a:noFill/>
          <a:ln w="9525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685800" y="52120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WEDGE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54864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hotel tech prices out 80% of US properties. Call centers are expensive and don't close. We land where both fail — at small &amp; mid-sized hotels that want to answer every call without hiring another FTE.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52120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INTERNATIONAL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4864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~700K hotels globally outside the US. 5–10× TAM expansion once English + 2–3 more languages ship. Voice is the universal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 TO MARKET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Start in Cincinnati. </a:t>
            </a:r>
            <a:r>
              <a:rPr lang="en-US" sz="38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Expand on trust</a:t>
            </a:r>
            <a:r>
              <a:rPr lang="en-US" sz="38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distribution advantage competitors can't replicate — because it's community, not marketing.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8" name="Text 6"/>
          <p:cNvSpPr/>
          <p:nvPr/>
        </p:nvSpPr>
        <p:spPr>
          <a:xfrm>
            <a:off x="100584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73A2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40280" y="33832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Q1–Q2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5840" y="3794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Cincinnati Uzbek-American hoteliers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05840" y="4617720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diaspora network: [~N properties] of Holiday Inn Express / Holiday Inn franchises. Reference-driven close in weeks, not quarters.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0" y="5577840"/>
            <a:ext cx="3108960" cy="0"/>
          </a:xfrm>
          <a:prstGeom prst="line">
            <a:avLst/>
          </a:prstGeom>
          <a:noFill/>
          <a:ln w="9525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3" name="Text 11"/>
          <p:cNvSpPr/>
          <p:nvPr/>
        </p:nvSpPr>
        <p:spPr>
          <a:xfrm>
            <a:off x="1005840" y="56692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10 PAID PILOTS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3484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475488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73A2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9320" y="33832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Q3–Q4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54880" y="3794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Midwest expansion + AAHOA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4617720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AAHOA: 20,000+ properties, many Indian-American-owned. Same diaspora-trust dynamic — warm intros from Wave 1 operators.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5577840"/>
            <a:ext cx="3108960" cy="0"/>
          </a:xfrm>
          <a:prstGeom prst="line">
            <a:avLst/>
          </a:prstGeom>
          <a:noFill/>
          <a:ln w="9525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0" name="Text 18"/>
          <p:cNvSpPr/>
          <p:nvPr/>
        </p:nvSpPr>
        <p:spPr>
          <a:xfrm>
            <a:off x="4754880" y="56692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50 PAYING PROPERTIES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8388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2" name="Text 20"/>
          <p:cNvSpPr/>
          <p:nvPr/>
        </p:nvSpPr>
        <p:spPr>
          <a:xfrm>
            <a:off x="850392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73A2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738360" y="33832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03920" y="3794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IHG franchisee forums + PMS marketplaces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503920" y="4617720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Listed integrations on HotelKey &amp; Opera marketplaces. Ride Wave 1–2 case studies into IHG owner groups — 40% of our TAM.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5577840"/>
            <a:ext cx="3108960" cy="0"/>
          </a:xfrm>
          <a:prstGeom prst="line">
            <a:avLst/>
          </a:prstGeom>
          <a:noFill/>
          <a:ln w="9525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Text 25"/>
          <p:cNvSpPr/>
          <p:nvPr/>
        </p:nvSpPr>
        <p:spPr>
          <a:xfrm>
            <a:off x="8503920" y="56692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300+ PROPERTIES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plan, </a:t>
            </a:r>
            <a:r>
              <a:rPr lang="en-US" sz="40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 property</a:t>
            </a:r>
            <a:r>
              <a:rPr lang="en-US" sz="4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576072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100584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46120" y="29718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$1,799 / property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05840" y="3538728"/>
            <a:ext cx="5120640" cy="0"/>
          </a:xfrm>
          <a:prstGeom prst="line">
            <a:avLst/>
          </a:prstGeom>
          <a:noFill/>
          <a:ln w="6350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0" name="Text 8"/>
          <p:cNvSpPr/>
          <p:nvPr/>
        </p:nvSpPr>
        <p:spPr>
          <a:xfrm>
            <a:off x="1005840" y="36850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46120" y="368503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$17,990 (2 months free)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05840" y="4251960"/>
            <a:ext cx="5120640" cy="0"/>
          </a:xfrm>
          <a:prstGeom prst="line">
            <a:avLst/>
          </a:prstGeom>
          <a:noFill/>
          <a:ln w="6350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3" name="Text 11"/>
          <p:cNvSpPr/>
          <p:nvPr/>
        </p:nvSpPr>
        <p:spPr>
          <a:xfrm>
            <a:off x="1005840" y="439826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439826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$2,500 one-time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5840" y="4965192"/>
            <a:ext cx="5120640" cy="0"/>
          </a:xfrm>
          <a:prstGeom prst="line">
            <a:avLst/>
          </a:prstGeom>
          <a:noFill/>
          <a:ln w="6350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6" name="Text 14"/>
          <p:cNvSpPr/>
          <p:nvPr/>
        </p:nvSpPr>
        <p:spPr>
          <a:xfrm>
            <a:off x="1005840" y="511149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511149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$1.25 / call above 2,000 / mo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ECONOMICS (TARGET)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 (at scale)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0" y="32004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032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0" y="3611880"/>
            <a:ext cx="4572000" cy="0"/>
          </a:xfrm>
          <a:prstGeom prst="line">
            <a:avLst/>
          </a:prstGeom>
          <a:noFill/>
          <a:ln w="6350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2" name="Text 20"/>
          <p:cNvSpPr/>
          <p:nvPr/>
        </p:nvSpPr>
        <p:spPr>
          <a:xfrm>
            <a:off x="6858000" y="3657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CAC (diaspora-led)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032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~$1,500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0" y="4069080"/>
            <a:ext cx="4572000" cy="0"/>
          </a:xfrm>
          <a:prstGeom prst="line">
            <a:avLst/>
          </a:prstGeom>
          <a:noFill/>
          <a:ln w="6350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5" name="Text 23"/>
          <p:cNvSpPr/>
          <p:nvPr/>
        </p:nvSpPr>
        <p:spPr>
          <a:xfrm>
            <a:off x="685800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(18-mo avg retention)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4114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032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~$30K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58000" y="4526280"/>
            <a:ext cx="4572000" cy="0"/>
          </a:xfrm>
          <a:prstGeom prst="line">
            <a:avLst/>
          </a:prstGeom>
          <a:noFill/>
          <a:ln w="6350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8" name="Text 26"/>
          <p:cNvSpPr/>
          <p:nvPr/>
        </p:nvSpPr>
        <p:spPr>
          <a:xfrm>
            <a:off x="6858000" y="4572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/ CAC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0" y="45720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032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~20×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858000" y="4983480"/>
            <a:ext cx="4572000" cy="0"/>
          </a:xfrm>
          <a:prstGeom prst="line">
            <a:avLst/>
          </a:prstGeom>
          <a:noFill/>
          <a:ln w="6350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1" name="Text 29"/>
          <p:cNvSpPr/>
          <p:nvPr/>
        </p:nvSpPr>
        <p:spPr>
          <a:xfrm>
            <a:off x="6858000" y="5029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3241E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Payback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0" y="5029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032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 months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858000" y="5440680"/>
            <a:ext cx="4572000" cy="0"/>
          </a:xfrm>
          <a:prstGeom prst="line">
            <a:avLst/>
          </a:prstGeom>
          <a:noFill/>
          <a:ln w="6350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4" name="Text 32"/>
          <p:cNvSpPr/>
          <p:nvPr/>
        </p:nvSpPr>
        <p:spPr>
          <a:xfrm>
            <a:off x="6858000" y="56235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3241E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Diaspora-driven GTM keeps CAC below SaaS average. Structural pricing advantage — still roughly half a call center's cost, while </a:t>
            </a:r>
            <a:r>
              <a:rPr lang="en-US" sz="1150" i="1" dirty="0">
                <a:solidFill>
                  <a:srgbClr val="03241E">
                    <a:alpha val="85000"/>
                  </a:srgbClr>
                </a:solidFill>
                <a:highlight>
                  <a:srgbClr val="F2C62C"/>
                </a:highlight>
                <a:latin typeface="Fraunces" pitchFamily="34" charset="0"/>
                <a:ea typeface="Fraunces" pitchFamily="34" charset="-122"/>
                <a:cs typeface="Fraunces" pitchFamily="34" charset="-120"/>
              </a:rPr>
              <a:t>capturing bookings they can't</a:t>
            </a:r>
            <a:r>
              <a:rPr lang="en-US" sz="1150" i="1" dirty="0">
                <a:solidFill>
                  <a:srgbClr val="03241E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category is validated. </a:t>
            </a:r>
            <a:r>
              <a:rPr lang="en-US" sz="38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Our lane is empty</a:t>
            </a:r>
            <a:r>
              <a:rPr lang="en-US" sz="38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606040"/>
            <a:ext cx="10789920" cy="38862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Shape 5"/>
          <p:cNvSpPr/>
          <p:nvPr/>
        </p:nvSpPr>
        <p:spPr>
          <a:xfrm>
            <a:off x="685800" y="2606040"/>
            <a:ext cx="10789920" cy="411480"/>
          </a:xfrm>
          <a:prstGeom prst="rect">
            <a:avLst/>
          </a:prstGeom>
          <a:solidFill>
            <a:srgbClr val="F7F3EC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794760" y="26060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86600" y="26060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WIN / POSITION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60120" y="30175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Canary Technologies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94760" y="30175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3241E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messaging, upsells, digital check-in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086600" y="30175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3241E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Text, not voice. Their </a:t>
            </a:r>
            <a:r>
              <a:rPr lang="en-US" sz="1050" b="1" dirty="0">
                <a:solidFill>
                  <a:srgbClr val="03241E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~$500M valuation</a:t>
            </a:r>
            <a:r>
              <a:rPr lang="en-US" sz="1050" dirty="0">
                <a:solidFill>
                  <a:srgbClr val="03241E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validates the category — we own the other half.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60120" y="3657600"/>
            <a:ext cx="10241280" cy="0"/>
          </a:xfrm>
          <a:prstGeom prst="line">
            <a:avLst/>
          </a:prstGeom>
          <a:noFill/>
          <a:ln w="6350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960120" y="3657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Duve · Mews AI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94760" y="36576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3241E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PMS-native guest messaging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08660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3241E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text-first. Same gap on the phone line.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4297680"/>
            <a:ext cx="10241280" cy="0"/>
          </a:xfrm>
          <a:prstGeom prst="line">
            <a:avLst/>
          </a:prstGeom>
          <a:noFill/>
          <a:ln w="6350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960120" y="42976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iroomfinder · InnRoad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94760" y="42976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3241E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call centers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86600" y="42976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3241E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Expensive, slow, don't capture bookings. </a:t>
            </a:r>
            <a:r>
              <a:rPr lang="en-US" sz="1050" b="1" dirty="0">
                <a:solidFill>
                  <a:srgbClr val="03241E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incumbent we directly replace.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60120" y="4937760"/>
            <a:ext cx="10241280" cy="0"/>
          </a:xfrm>
          <a:prstGeom prst="line">
            <a:avLst/>
          </a:prstGeom>
          <a:noFill/>
          <a:ln w="6350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960120" y="49377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Bland AI · Vapi · Retell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794760" y="49377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3241E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Horizontal voice AI platforms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086600" y="49377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3241E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hospitality vertical, no PMS integration, no domain workflows. DIY toolkits — not a product.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0120" y="5577840"/>
            <a:ext cx="10241280" cy="0"/>
          </a:xfrm>
          <a:prstGeom prst="line">
            <a:avLst/>
          </a:prstGeom>
          <a:noFill/>
          <a:ln w="6350">
            <a:solidFill>
              <a:srgbClr val="EDE7D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Shape 25"/>
          <p:cNvSpPr/>
          <p:nvPr/>
        </p:nvSpPr>
        <p:spPr>
          <a:xfrm>
            <a:off x="685800" y="5577840"/>
            <a:ext cx="10789920" cy="640080"/>
          </a:xfrm>
          <a:prstGeom prst="rect">
            <a:avLst/>
          </a:prstGeom>
          <a:solidFill>
            <a:srgbClr val="03241E"/>
          </a:solidFill>
          <a:ln/>
        </p:spPr>
        <p:txBody>
          <a:bodyPr/>
          <a:lstStyle/>
          <a:p>
            <a:endParaRPr lang="en-UZ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0120" y="5687568"/>
            <a:ext cx="1645920" cy="42062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3794760" y="55778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DFBF7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Voice-first · hospitality-specific · small-hotel-priced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086600" y="55778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3241E">
                    <a:alpha val="95000"/>
                  </a:srgbClr>
                </a:solidFill>
                <a:highlight>
                  <a:srgbClr val="F2C62C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White space. No one else is here.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FFFFFF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Early signal from the </a:t>
            </a:r>
            <a:r>
              <a:rPr lang="en-US" sz="4000" i="1" kern="0" spc="-1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real world</a:t>
            </a:r>
            <a:r>
              <a:rPr lang="en-US" sz="4000" kern="0" spc="-1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2560320" cy="0"/>
          </a:xfrm>
          <a:prstGeom prst="line">
            <a:avLst/>
          </a:prstGeom>
          <a:noFill/>
          <a:ln w="9525">
            <a:solidFill>
              <a:srgbClr val="FDFB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kern="0" spc="-3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[N]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685800" y="4023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DFBF7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PILOTS SIGNED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2697480"/>
            <a:ext cx="2560320" cy="0"/>
          </a:xfrm>
          <a:prstGeom prst="line">
            <a:avLst/>
          </a:prstGeom>
          <a:noFill/>
          <a:ln w="9525">
            <a:solidFill>
              <a:srgbClr val="FDFB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0" name="Text 8"/>
          <p:cNvSpPr/>
          <p:nvPr/>
        </p:nvSpPr>
        <p:spPr>
          <a:xfrm>
            <a:off x="3474720" y="283464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kern="0" spc="-3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[$X]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474720" y="4023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DFBF7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MRR RUN-RATE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63640" y="2697480"/>
            <a:ext cx="2560320" cy="0"/>
          </a:xfrm>
          <a:prstGeom prst="line">
            <a:avLst/>
          </a:prstGeom>
          <a:noFill/>
          <a:ln w="9525">
            <a:solidFill>
              <a:srgbClr val="FDFB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3" name="Text 11"/>
          <p:cNvSpPr/>
          <p:nvPr/>
        </p:nvSpPr>
        <p:spPr>
          <a:xfrm>
            <a:off x="6263640" y="283464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kern="0" spc="-3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[N]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6263640" y="4023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DFBF7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CALLS ANSWERED / MONTH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052560" y="2697480"/>
            <a:ext cx="2560320" cy="0"/>
          </a:xfrm>
          <a:prstGeom prst="line">
            <a:avLst/>
          </a:prstGeom>
          <a:noFill/>
          <a:ln w="9525">
            <a:solidFill>
              <a:srgbClr val="FDFB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6" name="Text 14"/>
          <p:cNvSpPr/>
          <p:nvPr/>
        </p:nvSpPr>
        <p:spPr>
          <a:xfrm>
            <a:off x="9052560" y="283464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kern="0" spc="-3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[$X]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9052560" y="4023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DFBF7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BOOKINGS CAPTURED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5800" y="4754880"/>
            <a:ext cx="8229600" cy="1554480"/>
          </a:xfrm>
          <a:prstGeom prst="roundRect">
            <a:avLst>
              <a:gd name="adj" fmla="val 8824"/>
            </a:avLst>
          </a:prstGeom>
          <a:solidFill>
            <a:srgbClr val="FDFBF7">
              <a:alpha val="8000"/>
            </a:srgbClr>
          </a:solidFill>
          <a:ln w="6350">
            <a:solidFill>
              <a:srgbClr val="FDFB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914400" y="48463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"[GM quote — e.g. 'Arvy caught a $640 booking at 2am that would've gone to Booking.com. Sold me instantly.']"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5852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DFBF7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[GM name, property, city]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by people who've been </a:t>
            </a:r>
            <a:r>
              <a:rPr lang="en-US" sz="40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 the line</a:t>
            </a:r>
            <a:r>
              <a:rPr lang="en-US" sz="4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85800" y="2606040"/>
            <a:ext cx="5394960" cy="2743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Shape 5"/>
          <p:cNvSpPr/>
          <p:nvPr/>
        </p:nvSpPr>
        <p:spPr>
          <a:xfrm>
            <a:off x="1005840" y="2926080"/>
            <a:ext cx="685800" cy="685800"/>
          </a:xfrm>
          <a:prstGeom prst="ellipse">
            <a:avLst/>
          </a:prstGeom>
          <a:solidFill>
            <a:srgbClr val="03241E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874520" y="2971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Rakhmatjon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74520" y="33832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3+ years in US hotel operations — front desk through ops at [HIE / Holiday Inn properties]. Bilingual EN/UZ. [~N hotelier relationships] across OH / KY.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606040"/>
            <a:ext cx="5394960" cy="2743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3" name="Shape 11"/>
          <p:cNvSpPr/>
          <p:nvPr/>
        </p:nvSpPr>
        <p:spPr>
          <a:xfrm>
            <a:off x="6583680" y="2926080"/>
            <a:ext cx="685800" cy="685800"/>
          </a:xfrm>
          <a:prstGeom prst="ellipse">
            <a:avLst/>
          </a:prstGeom>
          <a:solidFill>
            <a:srgbClr val="03241E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4" name="Text 12"/>
          <p:cNvSpPr/>
          <p:nvPr/>
        </p:nvSpPr>
        <p:spPr>
          <a:xfrm>
            <a:off x="6583680" y="29260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452360" y="2971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Nurislombek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452360" y="33832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CO-FOUNDER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0" y="393192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[Engineer with voice AI / systems background — specific prior work]. Owns the streaming voice pipeline, PMS integrations, reliability.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623560"/>
            <a:ext cx="10789920" cy="0"/>
          </a:xfrm>
          <a:prstGeom prst="line">
            <a:avLst/>
          </a:prstGeom>
          <a:noFill/>
          <a:ln w="6350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685800" y="5760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[Advisor names — ideally 1 hospitality-ops veteran and 1 voice-AI / SaaS operator]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USE OF FUNDS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Land, repeat, </a:t>
            </a:r>
            <a:r>
              <a:rPr lang="en-US" sz="38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expand</a:t>
            </a:r>
            <a:r>
              <a:rPr lang="en-US" sz="38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468880"/>
            <a:ext cx="3429000" cy="2468880"/>
          </a:xfrm>
          <a:prstGeom prst="roundRect">
            <a:avLst>
              <a:gd name="adj" fmla="val 5556"/>
            </a:avLst>
          </a:prstGeom>
          <a:solidFill>
            <a:srgbClr val="FDFBF7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3241E">
                    <a:alpha val="5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20240" y="2697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Q1–Q2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Land the wedge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60120" y="370332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paid Cincinnati pilots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60120" y="406908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3" name="Text 11"/>
          <p:cNvSpPr/>
          <p:nvPr/>
        </p:nvSpPr>
        <p:spPr>
          <a:xfrm>
            <a:off x="1143000" y="40233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Harden product + voice quality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60120" y="443484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1143000" y="43891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more PMS integrations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43400" y="2468880"/>
            <a:ext cx="3429000" cy="2468880"/>
          </a:xfrm>
          <a:prstGeom prst="roundRect">
            <a:avLst>
              <a:gd name="adj" fmla="val 5556"/>
            </a:avLst>
          </a:prstGeom>
          <a:solidFill>
            <a:srgbClr val="FDFBF7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7" name="Text 15"/>
          <p:cNvSpPr/>
          <p:nvPr/>
        </p:nvSpPr>
        <p:spPr>
          <a:xfrm>
            <a:off x="4617720" y="2697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3241E">
                    <a:alpha val="5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77840" y="2697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Q3–Q4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17720" y="31089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Prove repeatability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617720" y="370332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21" name="Text 19"/>
          <p:cNvSpPr/>
          <p:nvPr/>
        </p:nvSpPr>
        <p:spPr>
          <a:xfrm>
            <a:off x="4800600" y="36576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paying properties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406908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4800600" y="40233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~$1M ARR run-rate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443484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25" name="Text 23"/>
          <p:cNvSpPr/>
          <p:nvPr/>
        </p:nvSpPr>
        <p:spPr>
          <a:xfrm>
            <a:off x="4800600" y="43891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2 hires: 1 SE + 1 GTM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1000" y="2468880"/>
            <a:ext cx="3429000" cy="2468880"/>
          </a:xfrm>
          <a:prstGeom prst="roundRect">
            <a:avLst>
              <a:gd name="adj" fmla="val 5556"/>
            </a:avLst>
          </a:prstGeom>
          <a:solidFill>
            <a:srgbClr val="FDFBF7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Text 25"/>
          <p:cNvSpPr/>
          <p:nvPr/>
        </p:nvSpPr>
        <p:spPr>
          <a:xfrm>
            <a:off x="8275320" y="2697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3241E">
                    <a:alpha val="5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235440" y="2697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2027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75320" y="31089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Expand beyond Midwest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75320" y="370332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31" name="Text 29"/>
          <p:cNvSpPr/>
          <p:nvPr/>
        </p:nvSpPr>
        <p:spPr>
          <a:xfrm>
            <a:off x="8458200" y="36576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300+ properties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75320" y="406908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33" name="Text 31"/>
          <p:cNvSpPr/>
          <p:nvPr/>
        </p:nvSpPr>
        <p:spPr>
          <a:xfrm>
            <a:off x="8458200" y="40233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AAHOA + marketplace distribution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75320" y="4434840"/>
            <a:ext cx="73152" cy="73152"/>
          </a:xfrm>
          <a:prstGeom prst="ellipse">
            <a:avLst/>
          </a:prstGeom>
          <a:solidFill>
            <a:srgbClr val="073A2F"/>
          </a:solidFill>
          <a:ln/>
        </p:spPr>
        <p:txBody>
          <a:bodyPr/>
          <a:lstStyle/>
          <a:p>
            <a:endParaRPr lang="en-UZ"/>
          </a:p>
        </p:txBody>
      </p:sp>
      <p:sp>
        <p:nvSpPr>
          <p:cNvPr id="35" name="Text 33"/>
          <p:cNvSpPr/>
          <p:nvPr/>
        </p:nvSpPr>
        <p:spPr>
          <a:xfrm>
            <a:off x="8458200" y="43891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 #2 (Spanish)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85800" y="5166360"/>
            <a:ext cx="10789920" cy="0"/>
          </a:xfrm>
          <a:prstGeom prst="line">
            <a:avLst/>
          </a:prstGeom>
          <a:noFill/>
          <a:ln w="6350">
            <a:solidFill>
              <a:srgbClr val="03241E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7" name="Text 35"/>
          <p:cNvSpPr/>
          <p:nvPr/>
        </p:nvSpPr>
        <p:spPr>
          <a:xfrm>
            <a:off x="685800" y="5303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5800" y="5669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50%</a:t>
            </a:r>
            <a:endParaRPr lang="en-US" sz="3000" dirty="0"/>
          </a:p>
        </p:txBody>
      </p:sp>
      <p:sp>
        <p:nvSpPr>
          <p:cNvPr id="39" name="Text 37"/>
          <p:cNvSpPr/>
          <p:nvPr/>
        </p:nvSpPr>
        <p:spPr>
          <a:xfrm>
            <a:off x="685800" y="6172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5800" y="6400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reliability, PMS integrations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474720" y="5669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30%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3474720" y="6172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474720" y="6400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GTM hire, referrals, diaspora events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63640" y="5669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15%</a:t>
            </a:r>
            <a:endParaRPr lang="en-US" sz="3000" dirty="0"/>
          </a:p>
        </p:txBody>
      </p:sp>
      <p:sp>
        <p:nvSpPr>
          <p:cNvPr id="45" name="Text 43"/>
          <p:cNvSpPr/>
          <p:nvPr/>
        </p:nvSpPr>
        <p:spPr>
          <a:xfrm>
            <a:off x="6263640" y="6172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PMS partnerships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63640" y="6400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Certifications, marketplace listings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052560" y="5669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5%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9052560" y="6172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24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Ops &amp; legal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052560" y="6400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Compliance, contracts, infrastructure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03241E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740664"/>
            <a:ext cx="365760" cy="0"/>
          </a:xfrm>
          <a:prstGeom prst="line">
            <a:avLst/>
          </a:prstGeom>
          <a:noFill/>
          <a:ln w="9525">
            <a:solidFill>
              <a:srgbClr val="03241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" name="Text 2"/>
          <p:cNvSpPr/>
          <p:nvPr/>
        </p:nvSpPr>
        <p:spPr>
          <a:xfrm>
            <a:off x="1097280" y="6183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STRATEGY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Multiple credible buyers. </a:t>
            </a:r>
            <a:r>
              <a:rPr lang="en-US" sz="3800" i="1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3–5 year window</a:t>
            </a:r>
            <a:r>
              <a:rPr lang="en-US" sz="3800" kern="0" spc="-1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606040"/>
            <a:ext cx="539496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Shape 5"/>
          <p:cNvSpPr/>
          <p:nvPr/>
        </p:nvSpPr>
        <p:spPr>
          <a:xfrm>
            <a:off x="877824" y="2752344"/>
            <a:ext cx="1261872" cy="530352"/>
          </a:xfrm>
          <a:prstGeom prst="roundRect">
            <a:avLst>
              <a:gd name="adj" fmla="val 10345"/>
            </a:avLst>
          </a:prstGeom>
          <a:solidFill>
            <a:srgbClr val="FDFBF7"/>
          </a:solidFill>
          <a:ln w="508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4400" y="2788920"/>
            <a:ext cx="118872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86000" y="2788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Canary Technologies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2286000" y="3154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complements their messaging suite. At ~10× ARR comps, $25M ARR → ~$250M exit.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63640" y="2606040"/>
            <a:ext cx="539496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2" name="Shape 9"/>
          <p:cNvSpPr/>
          <p:nvPr/>
        </p:nvSpPr>
        <p:spPr>
          <a:xfrm>
            <a:off x="6455664" y="2752344"/>
            <a:ext cx="1261872" cy="530352"/>
          </a:xfrm>
          <a:prstGeom prst="roundRect">
            <a:avLst>
              <a:gd name="adj" fmla="val 10345"/>
            </a:avLst>
          </a:prstGeom>
          <a:solidFill>
            <a:srgbClr val="FDFBF7"/>
          </a:solidFill>
          <a:ln w="508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92240" y="2788920"/>
            <a:ext cx="118872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863840" y="2788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IHG Hotels &amp; Resorts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863840" y="3154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40% of our TAM are IHG franchisees. Vertical tech acquisition precedent.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85800" y="4023360"/>
            <a:ext cx="539496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7" name="Shape 13"/>
          <p:cNvSpPr/>
          <p:nvPr/>
        </p:nvSpPr>
        <p:spPr>
          <a:xfrm>
            <a:off x="877824" y="4169664"/>
            <a:ext cx="1261872" cy="530352"/>
          </a:xfrm>
          <a:prstGeom prst="roundRect">
            <a:avLst>
              <a:gd name="adj" fmla="val 10345"/>
            </a:avLst>
          </a:prstGeom>
          <a:solidFill>
            <a:srgbClr val="FDFBF7"/>
          </a:solidFill>
          <a:ln w="508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4400" y="4206240"/>
            <a:ext cx="118872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28600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Oracle Hospitality (Opera PMS)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2286000" y="45720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is the missing layer on the Opera stack.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263640" y="4023360"/>
            <a:ext cx="539496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2" name="Shape 17"/>
          <p:cNvSpPr/>
          <p:nvPr/>
        </p:nvSpPr>
        <p:spPr>
          <a:xfrm>
            <a:off x="6455664" y="4169664"/>
            <a:ext cx="1261872" cy="530352"/>
          </a:xfrm>
          <a:prstGeom prst="roundRect">
            <a:avLst>
              <a:gd name="adj" fmla="val 10345"/>
            </a:avLst>
          </a:prstGeom>
          <a:solidFill>
            <a:srgbClr val="FDFBF7"/>
          </a:solidFill>
          <a:ln w="508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92240" y="4206240"/>
            <a:ext cx="1188720" cy="45720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455664" y="4672584"/>
            <a:ext cx="1261872" cy="530352"/>
          </a:xfrm>
          <a:prstGeom prst="roundRect">
            <a:avLst>
              <a:gd name="adj" fmla="val 10345"/>
            </a:avLst>
          </a:prstGeom>
          <a:solidFill>
            <a:srgbClr val="FDFBF7"/>
          </a:solidFill>
          <a:ln w="5080">
            <a:solidFill>
              <a:srgbClr val="CFD4D3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492240" y="4709160"/>
            <a:ext cx="118872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86384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Cloudbeds · SiteMinder</a:t>
            </a:r>
            <a:endParaRPr lang="en-US" sz="1700" dirty="0"/>
          </a:p>
        </p:txBody>
      </p:sp>
      <p:sp>
        <p:nvSpPr>
          <p:cNvPr id="27" name="Text 20"/>
          <p:cNvSpPr/>
          <p:nvPr/>
        </p:nvSpPr>
        <p:spPr>
          <a:xfrm>
            <a:off x="7863840" y="45720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Distribution platforms adding voice to their bundle.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85800" y="5669280"/>
            <a:ext cx="10789920" cy="0"/>
          </a:xfrm>
          <a:prstGeom prst="line">
            <a:avLst/>
          </a:prstGeom>
          <a:noFill/>
          <a:ln w="6350">
            <a:solidFill>
              <a:srgbClr val="03241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9" name="Text 22"/>
          <p:cNvSpPr/>
          <p:nvPr/>
        </p:nvSpPr>
        <p:spPr>
          <a:xfrm>
            <a:off x="685800" y="5806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COMPARABLE EXITS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85800" y="608076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E50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ALICE → Actabl (2021) · Cendyn → Accor-Sapient · Duetto → GrowthCurve ($270M, 2022) · MeetingPackage → Lightspeed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6675120" y="5806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3241E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OUTCOME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6675120" y="60350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3241E"/>
                </a:solidFill>
                <a:highlight>
                  <a:srgbClr val="F2C62C"/>
                </a:highlight>
                <a:latin typeface="Fraunces" pitchFamily="34" charset="0"/>
                <a:ea typeface="Fraunces" pitchFamily="34" charset="-122"/>
                <a:cs typeface="Fraunces" pitchFamily="34" charset="-120"/>
              </a:rPr>
              <a:t>$150M–$500M acquisition</a:t>
            </a:r>
            <a:r>
              <a:rPr lang="en-US" sz="1600" i="1" dirty="0">
                <a:solidFill>
                  <a:srgbClr val="03241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, 3–5 years.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704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FFFFFF">
                    <a:alpha val="4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15</a:t>
            </a:r>
            <a:endParaRPr lang="en-US" sz="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548640"/>
            <a:ext cx="1280160" cy="365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243584"/>
            <a:ext cx="365760" cy="0"/>
          </a:xfrm>
          <a:prstGeom prst="line">
            <a:avLst/>
          </a:prstGeom>
          <a:noFill/>
          <a:ln w="9525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" name="Text 2"/>
          <p:cNvSpPr/>
          <p:nvPr/>
        </p:nvSpPr>
        <p:spPr>
          <a:xfrm>
            <a:off x="1097280" y="11212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17373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kern="0" spc="-300" dirty="0">
                <a:solidFill>
                  <a:srgbClr val="FDFBF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Raising [$X]</a:t>
            </a:r>
            <a:endParaRPr lang="en-US" sz="8800" dirty="0"/>
          </a:p>
        </p:txBody>
      </p:sp>
      <p:sp>
        <p:nvSpPr>
          <p:cNvPr id="7" name="Text 4"/>
          <p:cNvSpPr/>
          <p:nvPr/>
        </p:nvSpPr>
        <p:spPr>
          <a:xfrm>
            <a:off x="685800" y="3291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DFBF7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at [$Y] pre-money.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685800" y="4206240"/>
            <a:ext cx="7772400" cy="2011680"/>
          </a:xfrm>
          <a:prstGeom prst="roundRect">
            <a:avLst>
              <a:gd name="adj" fmla="val 6818"/>
            </a:avLst>
          </a:prstGeom>
          <a:solidFill>
            <a:srgbClr val="FDFBF7">
              <a:alpha val="7000"/>
            </a:srgbClr>
          </a:solidFill>
          <a:ln w="6350">
            <a:solidFill>
              <a:srgbClr val="FDFB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9" name="Text 6"/>
          <p:cNvSpPr/>
          <p:nvPr/>
        </p:nvSpPr>
        <p:spPr>
          <a:xfrm>
            <a:off x="914400" y="4343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DFBF7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MILESTONES THIS ROUND FUNDS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14400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C6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88720" y="475488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paying properties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14400" y="5093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C6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88720" y="509320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Seven-figure ARR run-rate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14400" y="5431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C6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88720" y="543153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Validated Cincinnati playbook — documented and replicable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14400" y="57698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C6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88720" y="57698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DFB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10 IHG franchisees outside the diaspora wedge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8580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FDFBF7">
                    <a:alpha val="5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♥  Made in Cincinnati  ·  Arryve  ·  arryve.com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1578</Words>
  <Application>Microsoft Macintosh PowerPoint</Application>
  <PresentationFormat>Widescreen</PresentationFormat>
  <Paragraphs>269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Courier New</vt:lpstr>
      <vt:lpstr>Fraunces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Arryve — Seed pitch</dc:title>
  <dc:subject>PptxGenJS Presentation</dc:subject>
  <dc:creator>Arryve</dc:creator>
  <cp:lastModifiedBy>Gaipov, Rakhmatjon (gaipovrs)</cp:lastModifiedBy>
  <cp:revision>2</cp:revision>
  <dcterms:created xsi:type="dcterms:W3CDTF">2026-04-17T07:46:23Z</dcterms:created>
  <dcterms:modified xsi:type="dcterms:W3CDTF">2026-04-17T11:11:14Z</dcterms:modified>
</cp:coreProperties>
</file>