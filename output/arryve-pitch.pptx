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32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· 2026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594360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DFBF7">
                    <a:alpha val="90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better arrival starts with the </a:t>
            </a:r>
            <a:pPr indent="0" marL="0">
              <a:buNone/>
            </a:pPr>
            <a:r>
              <a:rPr lang="en-US" sz="3000" i="1" dirty="0">
                <a:solidFill>
                  <a:srgbClr val="03241E">
                    <a:alpha val="90000"/>
                  </a:srgbClr>
                </a:solidFill>
                <a:highlight>
                  <a:srgbClr val="F2C62C"/>
                </a:highlight>
                <a:latin typeface="Fraunces" pitchFamily="34" charset="0"/>
                <a:ea typeface="Fraunces" pitchFamily="34" charset="-122"/>
                <a:cs typeface="Fraunces" pitchFamily="34" charset="-120"/>
              </a:rPr>
              <a:t>first call</a:t>
            </a:r>
            <a:pPr indent="0" marL="0">
              <a:buNone/>
            </a:pPr>
            <a:r>
              <a:rPr lang="en-US" sz="3000" i="1" dirty="0">
                <a:solidFill>
                  <a:srgbClr val="FDFBF7">
                    <a:alpha val="90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Rakhmatjon</a:t>
            </a:r>
            <a:pPr indent="0" marL="0">
              <a:buNone/>
            </a:pPr>
            <a:r>
              <a:rPr lang="en-US" sz="1200" dirty="0">
                <a:solidFill>
                  <a:srgbClr val="FDFBF7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Founder</a:t>
            </a:r>
            <a:pPr indent="0" marL="0">
              <a:buNone/>
            </a:pPr>
            <a:r>
              <a:rPr lang="en-US" sz="1200" dirty="0">
                <a:solidFill>
                  <a:srgbClr val="FDFBF7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indent="0" marL="0">
              <a:buNone/>
            </a:pPr>
            <a:r>
              <a:rPr lang="en-US" sz="1200" b="1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Nurislombek</a:t>
            </a:r>
            <a:pPr indent="0" marL="0">
              <a:buNone/>
            </a:pPr>
            <a:r>
              <a:rPr lang="en-US" sz="1200" dirty="0">
                <a:solidFill>
                  <a:srgbClr val="FDFBF7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Technical Co-Founder</a:t>
            </a:r>
            <a:pPr indent="0" marL="0">
              <a:buNone/>
            </a:pPr>
            <a:r>
              <a:rPr lang="en-US" sz="1200" dirty="0">
                <a:solidFill>
                  <a:srgbClr val="FDFBF7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indent="0" marL="0">
              <a:buNone/>
            </a:pPr>
            <a:r>
              <a:rPr lang="en-US" sz="1200" dirty="0">
                <a:solidFill>
                  <a:srgbClr val="FD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Cincinnati, OH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Hotels are losing bookings </a:t>
            </a:r>
            <a:pPr indent="0" marL="0">
              <a:buNone/>
            </a:pPr>
            <a:r>
              <a:rPr lang="en-US" sz="4400" i="1" spc="-100" kern="0" dirty="0">
                <a:solidFill>
                  <a:srgbClr val="03241E"/>
                </a:solidFill>
                <a:highlight>
                  <a:srgbClr val="F2C62C"/>
                </a:highlight>
                <a:latin typeface="Fraunces" pitchFamily="34" charset="0"/>
                <a:ea typeface="Fraunces" pitchFamily="34" charset="-122"/>
                <a:cs typeface="Fraunces" pitchFamily="34" charset="-120"/>
              </a:rPr>
              <a:t>every hour the phone rings</a:t>
            </a:r>
            <a:pPr indent="0" marL="0">
              <a:buNone/>
            </a:pPr>
            <a:r>
              <a:rPr lang="en-US" sz="44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3566160" cy="0"/>
          </a:xfrm>
          <a:prstGeom prst="line">
            <a:avLst/>
          </a:prstGeom>
          <a:noFill/>
          <a:ln w="19050">
            <a:solidFill>
              <a:srgbClr val="03241E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1546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spc="-3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in 3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CALLS UNANSWERED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4846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During busy shifts and after hours — every one is a booking lost to an OTA, a competitor, or silence.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3017520"/>
            <a:ext cx="3566160" cy="0"/>
          </a:xfrm>
          <a:prstGeom prst="line">
            <a:avLst/>
          </a:prstGeom>
          <a:noFill/>
          <a:ln w="19050">
            <a:solidFill>
              <a:srgbClr val="03241E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1546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spc="-3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$12k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443484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DIRECT BOOKINGS LOST / MONTH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4846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handful of unanswered calls a day compounds fast. The callers were ready — they just needed a human on the 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3017520"/>
            <a:ext cx="3566160" cy="0"/>
          </a:xfrm>
          <a:prstGeom prst="line">
            <a:avLst/>
          </a:prstGeom>
          <a:noFill/>
          <a:ln w="19050">
            <a:solidFill>
              <a:srgbClr val="03241E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31546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spc="-3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2.5 hrs</a:t>
            </a:r>
            <a:endParaRPr lang="en-US" sz="6800" dirty="0"/>
          </a:p>
        </p:txBody>
      </p:sp>
      <p:sp>
        <p:nvSpPr>
          <p:cNvPr id="16" name="Text 14"/>
          <p:cNvSpPr/>
          <p:nvPr/>
        </p:nvSpPr>
        <p:spPr>
          <a:xfrm>
            <a:off x="818388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TIME ON FAQ / 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83880" y="4846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Parking. Pets. Breakfast. Check-in. Dozens of times a day, pulling staff from guests standing right in front of them.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call centers cost </a:t>
            </a:r>
            <a:pPr indent="0" marL="0">
              <a:buNone/>
            </a:pPr>
            <a:r>
              <a:rPr lang="en-US" sz="1150" b="1" i="1" dirty="0">
                <a:solidFill>
                  <a:srgbClr val="03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$2.50 / call</a:t>
            </a:r>
            <a:pPr indent="0" marL="0">
              <a:buNone/>
            </a:pPr>
            <a:r>
              <a:rPr lang="en-US" sz="1150" i="1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they take messages, don't capture bookings, don't see the PMS.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Three curves crossed in the last </a:t>
            </a:r>
            <a:pPr indent="0" marL="0">
              <a:buNone/>
            </a:pPr>
            <a:r>
              <a:rPr lang="en-US" sz="42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 months</a:t>
            </a:r>
            <a:pPr indent="0" marL="0">
              <a:buNone/>
            </a:pPr>
            <a:r>
              <a:rPr lang="en-US" sz="42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41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Voice AI crossed the line.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latency under 300ms. Natural prosody. The guest on the other end can't tell — and doesn't care 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41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PMS APIs finally opened up.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34840" y="42519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HotelKey, Opera, Cloudbeds, Mews — stable, documented, no longer gated to enterprise integrations only.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41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8388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Hotel labor is structurally short.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83880" y="42519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Front-desk wages up 25%+ post-COVID. Small-property understaffing isn't a cycle — it's the new baseline.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897880"/>
            <a:ext cx="10789920" cy="0"/>
          </a:xfrm>
          <a:prstGeom prst="line">
            <a:avLst/>
          </a:prstGeom>
          <a:noFill/>
          <a:ln w="9525">
            <a:solidFill>
              <a:srgbClr val="03241E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035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Small hotels couldn't afford call centers </a:t>
            </a:r>
            <a:pPr indent="0" marL="0">
              <a:buNone/>
            </a:pPr>
            <a:r>
              <a:rPr lang="en-US" sz="1600" i="1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or</a:t>
            </a:r>
            <a:pPr indent="0" marL="0">
              <a:buNone/>
            </a:pPr>
            <a:r>
              <a:rPr lang="en-US" sz="1600" i="1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enterprise AI. </a:t>
            </a:r>
            <a:pPr indent="0" marL="0">
              <a:buNone/>
            </a:pPr>
            <a:r>
              <a:rPr lang="en-US" sz="1600" i="1" dirty="0">
                <a:solidFill>
                  <a:srgbClr val="03241E"/>
                </a:solidFill>
                <a:highlight>
                  <a:srgbClr val="F2C62C"/>
                </a:highlight>
                <a:latin typeface="Fraunces" pitchFamily="34" charset="0"/>
                <a:ea typeface="Fraunces" pitchFamily="34" charset="-122"/>
                <a:cs typeface="Fraunces" pitchFamily="34" charset="-120"/>
              </a:rPr>
              <a:t>Now they get both, in one line.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15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658368"/>
            <a:ext cx="118872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658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324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85800" y="124358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Meet </a:t>
            </a:r>
            <a:pPr indent="0" marL="0">
              <a:buNone/>
            </a:pPr>
            <a:r>
              <a:rPr lang="en-US" sz="7200" i="1" spc="-2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Arvy</a:t>
            </a:r>
            <a:pPr indent="0" marL="0">
              <a:buNone/>
            </a:pPr>
            <a:r>
              <a:rPr lang="en-US" sz="7200" spc="-2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685800" y="33375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3241E">
                    <a:alpha val="90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AI voice that </a:t>
            </a:r>
            <a:pPr indent="0" marL="0">
              <a:buNone/>
            </a:pPr>
            <a:r>
              <a:rPr lang="en-US" sz="2200" dirty="0">
                <a:solidFill>
                  <a:srgbClr val="03241E">
                    <a:alpha val="90000"/>
                  </a:srgbClr>
                </a:solidFill>
                <a:highlight>
                  <a:srgbClr val="F2C62C"/>
                </a:highlight>
                <a:latin typeface="Fraunces" pitchFamily="34" charset="0"/>
                <a:ea typeface="Fraunces" pitchFamily="34" charset="-122"/>
                <a:cs typeface="Fraunces" pitchFamily="34" charset="-120"/>
              </a:rPr>
              <a:t>answers every guest call</a:t>
            </a:r>
            <a:pPr indent="0" marL="0">
              <a:buNone/>
            </a:pPr>
            <a:r>
              <a:rPr lang="en-US" sz="2200" dirty="0">
                <a:solidFill>
                  <a:srgbClr val="03241E">
                    <a:alpha val="90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85800" y="4462272"/>
            <a:ext cx="128016" cy="128016"/>
          </a:xfrm>
          <a:prstGeom prst="rect">
            <a:avLst/>
          </a:prstGeom>
          <a:solidFill>
            <a:srgbClr val="073A2F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3434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every call, 24/7, in your hotel's voice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4873752"/>
            <a:ext cx="128016" cy="128016"/>
          </a:xfrm>
          <a:prstGeom prst="rect">
            <a:avLst/>
          </a:prstGeom>
          <a:solidFill>
            <a:srgbClr val="073A2F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7548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bookings live — writes to your PMS mid-call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5285232"/>
            <a:ext cx="128016" cy="128016"/>
          </a:xfrm>
          <a:prstGeom prst="rect">
            <a:avLst/>
          </a:prstGeom>
          <a:solidFill>
            <a:srgbClr val="073A2F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5166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routine FAQ in under 30 seconds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5696712"/>
            <a:ext cx="128016" cy="128016"/>
          </a:xfrm>
          <a:prstGeom prst="rect">
            <a:avLst/>
          </a:prstGeom>
          <a:solidFill>
            <a:srgbClr val="073A2F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5577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Escalates with context — reservation note, pre-briefed transfer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32320" y="1234440"/>
            <a:ext cx="4343400" cy="4480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60920" y="1874520"/>
            <a:ext cx="3886200" cy="0"/>
          </a:xfrm>
          <a:prstGeom prst="line">
            <a:avLst/>
          </a:prstGeom>
          <a:noFill/>
          <a:ln w="9525">
            <a:solidFill>
              <a:srgbClr val="EDE7D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6640" y="1508760"/>
            <a:ext cx="146304" cy="146304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20" name="Text 17"/>
          <p:cNvSpPr/>
          <p:nvPr/>
        </p:nvSpPr>
        <p:spPr>
          <a:xfrm>
            <a:off x="7635240" y="1435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CALL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378440" y="1435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6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11:42 PM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06640" y="2148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324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06640" y="23774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chance you have a king tonight?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0664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324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ARVY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06640" y="32461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king at $189, breakfast included. Whose name shall I put the reservation under?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360920" y="4937760"/>
            <a:ext cx="3886200" cy="0"/>
          </a:xfrm>
          <a:prstGeom prst="line">
            <a:avLst/>
          </a:prstGeom>
          <a:noFill/>
          <a:ln w="9525">
            <a:solidFill>
              <a:srgbClr val="EDE7D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06640" y="51206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3241E"/>
          </a:solidFill>
          <a:ln/>
        </p:spPr>
      </p:sp>
      <p:sp>
        <p:nvSpPr>
          <p:cNvPr id="28" name="Text 25"/>
          <p:cNvSpPr/>
          <p:nvPr/>
        </p:nvSpPr>
        <p:spPr>
          <a:xfrm>
            <a:off x="7406640" y="5120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BOOKING CAPTURED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829800" y="5166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6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0:42 · synced to PMS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Three kinds of calls. </a:t>
            </a:r>
            <a:pPr indent="0" marL="0">
              <a:buNone/>
            </a:pPr>
            <a:r>
              <a:rPr lang="en-US" sz="42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steady voice</a:t>
            </a:r>
            <a:pPr indent="0" marL="0">
              <a:buNone/>
            </a:pPr>
            <a:r>
              <a:rPr lang="en-US" sz="42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3566160" cy="2331720"/>
          </a:xfrm>
          <a:prstGeom prst="roundRect">
            <a:avLst>
              <a:gd name="adj" fmla="val 5882"/>
            </a:avLst>
          </a:prstGeom>
          <a:solidFill>
            <a:srgbClr val="FDFBF7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41E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BOOKING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Reservation written straight into the PMS.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4526280"/>
            <a:ext cx="3017520" cy="0"/>
          </a:xfrm>
          <a:prstGeom prst="line">
            <a:avLst/>
          </a:prstGeom>
          <a:noFill/>
          <a:ln w="9525">
            <a:solidFill>
              <a:srgbClr val="EDE7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4709160"/>
            <a:ext cx="1920240" cy="320040"/>
          </a:xfrm>
          <a:prstGeom prst="roundRect">
            <a:avLst>
              <a:gd name="adj" fmla="val 57143"/>
            </a:avLst>
          </a:prstGeom>
          <a:solidFill>
            <a:srgbClr val="03241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709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BOOKING CAPTURED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4736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6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0:42 · synced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2834640"/>
            <a:ext cx="3566160" cy="2331720"/>
          </a:xfrm>
          <a:prstGeom prst="roundRect">
            <a:avLst>
              <a:gd name="adj" fmla="val 5882"/>
            </a:avLst>
          </a:prstGeom>
          <a:solidFill>
            <a:srgbClr val="FDFBF7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41E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06440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RETURNING GUEST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3474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Profile + prior stays pulled in real time.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09160" y="4526280"/>
            <a:ext cx="3017520" cy="0"/>
          </a:xfrm>
          <a:prstGeom prst="line">
            <a:avLst/>
          </a:prstGeom>
          <a:noFill/>
          <a:ln w="9525">
            <a:solidFill>
              <a:srgbClr val="EDE7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4709160"/>
            <a:ext cx="1920240" cy="320040"/>
          </a:xfrm>
          <a:prstGeom prst="roundRect">
            <a:avLst>
              <a:gd name="adj" fmla="val 57143"/>
            </a:avLst>
          </a:prstGeom>
          <a:solidFill>
            <a:srgbClr val="03241E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4709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CONFIRMED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5080" y="4736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6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0:28 · no transfer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83880" y="2834640"/>
            <a:ext cx="3566160" cy="2331720"/>
          </a:xfrm>
          <a:prstGeom prst="roundRect">
            <a:avLst>
              <a:gd name="adj" fmla="val 5882"/>
            </a:avLst>
          </a:prstGeom>
          <a:solidFill>
            <a:srgbClr val="FDFBF7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41E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WITH CONTEXT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58200" y="3474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Transferred with the note already written.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58200" y="4526280"/>
            <a:ext cx="3017520" cy="0"/>
          </a:xfrm>
          <a:prstGeom prst="line">
            <a:avLst/>
          </a:prstGeom>
          <a:noFill/>
          <a:ln w="9525">
            <a:solidFill>
              <a:srgbClr val="EDE7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8200" y="4709160"/>
            <a:ext cx="1920240" cy="320040"/>
          </a:xfrm>
          <a:prstGeom prst="roundRect">
            <a:avLst>
              <a:gd name="adj" fmla="val 57143"/>
            </a:avLst>
          </a:prstGeom>
          <a:solidFill>
            <a:srgbClr val="03241E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4709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TRANSFERRED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104120" y="4736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6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0:16 · to ext. 100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5577840"/>
            <a:ext cx="10789920" cy="0"/>
          </a:xfrm>
          <a:prstGeom prst="line">
            <a:avLst/>
          </a:prstGeom>
          <a:noFill/>
          <a:ln w="6350">
            <a:solidFill>
              <a:srgbClr val="03241E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DIRECTLY WITH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5669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PMS read + write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" y="60807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CFD4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6172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HotelKey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468880" y="60807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CFD4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6172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Opera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251960" y="60807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CFD4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6172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Cloudbeds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35040" y="60807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CFD4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6172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Mews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818120" y="60807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CFD4D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000" y="6172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Twilio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601200" y="60807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CFD4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84080" y="6172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Stayntouch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FOUNDER-PRODUCT FIT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 lived the missed call </a:t>
            </a:r>
            <a:pPr indent="0" marL="0">
              <a:buNone/>
            </a:pPr>
            <a:r>
              <a:rPr lang="en-US" sz="40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every shift</a:t>
            </a:r>
            <a:pPr indent="0" marL="0">
              <a:buNone/>
            </a:pPr>
            <a:r>
              <a:rPr lang="en-US" sz="4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Three-plus years working the US hotel industry — watching bookings walk to OTAs because the phone rang during check-in. This isn't a thesis. It's the job I had.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built Arryve for the person behind the desk. Hospitality is human; the phone work is the part we can take off their plate.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188720"/>
            <a:ext cx="4434840" cy="475488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508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BRING TO THIS PROBLEM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60920" y="2103120"/>
            <a:ext cx="109728" cy="109728"/>
          </a:xfrm>
          <a:prstGeom prst="rect">
            <a:avLst/>
          </a:prstGeom>
          <a:solidFill>
            <a:srgbClr val="073A2F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3+ years in US hotel operations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2331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Front-desk and operations roles at [specific HIE / Holiday Inn properties].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3035808"/>
            <a:ext cx="109728" cy="109728"/>
          </a:xfrm>
          <a:prstGeom prst="rect">
            <a:avLst/>
          </a:prstGeom>
          <a:solidFill>
            <a:srgbClr val="073A2F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2990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network in the Midwest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32644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[~N hotelier relationships] across OH / KY / IN — warm-intro velocity that cold outbound can't match.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3968496"/>
            <a:ext cx="109728" cy="109728"/>
          </a:xfrm>
          <a:prstGeom prst="rect">
            <a:avLst/>
          </a:prstGeom>
          <a:solidFill>
            <a:srgbClr val="073A2F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3922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Uzbek + English fluency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419709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Unlocks the Cincinnati Uzbek-American hotelier network — a distribution wedge no one else has.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4901184"/>
            <a:ext cx="109728" cy="109728"/>
          </a:xfrm>
          <a:prstGeom prst="rect">
            <a:avLst/>
          </a:prstGeom>
          <a:solidFill>
            <a:srgbClr val="073A2F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8554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co-founder: Nurislombek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512978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[Engineering background — voice AI / systems experience].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large, </a:t>
            </a:r>
            <a:pPr indent="0" marL="0">
              <a:buNone/>
            </a:pPr>
            <a:r>
              <a:rPr lang="en-US" sz="4200" spc="-100" kern="0" dirty="0">
                <a:solidFill>
                  <a:srgbClr val="03241E"/>
                </a:solidFill>
                <a:highlight>
                  <a:srgbClr val="F2C62C"/>
                </a:highlight>
                <a:latin typeface="Fraunces" pitchFamily="34" charset="0"/>
                <a:ea typeface="Fraunces" pitchFamily="34" charset="-122"/>
                <a:cs typeface="Fraunces" pitchFamily="34" charset="-120"/>
              </a:rPr>
              <a:t>underserved wedge</a:t>
            </a:r>
            <a:pPr indent="0" marL="0">
              <a:buNone/>
            </a:pPr>
            <a:r>
              <a:rPr lang="en-US" sz="42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DFBF7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spc="-2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~40K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SMALL &amp; MID-SIZED HOTELS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Independents and franchisees — our direct target. (Total US: ~60K.)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65176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03241E"/>
          </a:solidFill>
          <a:ln w="9525">
            <a:solidFill>
              <a:srgbClr val="0324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spc="-200" kern="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$860M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754880" y="3840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FBF7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TAM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BF7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40K × $21,588/yr (Property annual). Before international expansion.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265176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DFBF7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spc="-2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~$320M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503920" y="3840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NEAR-TERM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~15K properties on HotelKey / Opera / Cloudbeds / Mews today.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5074920"/>
            <a:ext cx="10789920" cy="0"/>
          </a:xfrm>
          <a:prstGeom prst="line">
            <a:avLst/>
          </a:prstGeom>
          <a:noFill/>
          <a:ln w="9525">
            <a:solidFill>
              <a:srgbClr val="03241E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212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WEDGE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5486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hotel tech prices out 80% of US properties. Call centers are expensive and don't close. We land where both fail — at small &amp; mid-sized hotels that want to answer every call without hiring another FTE.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5212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~700K hotels globally outside the US. 5–10× TAM expansion once English + 2–3 more languages ship. Voice is the universal interface.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TO 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Start in Cincinnati. </a:t>
            </a:r>
            <a:pPr indent="0" marL="0">
              <a:buNone/>
            </a:pPr>
            <a:r>
              <a:rPr lang="en-US" sz="38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Expand on trust</a:t>
            </a:r>
            <a:pPr indent="0" marL="0">
              <a:buNone/>
            </a:pPr>
            <a:r>
              <a:rPr lang="en-US" sz="38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distribution advantage competitors can't replicate — because it's community, not marketing.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3A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3383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3241E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Q1–Q2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Cincinnati Uzbek-American hoteliers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diaspora network: [~N properties] of Holiday Inn Express / Holiday Inn franchises. Reference-driven close in weeks, not quarters.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5577840"/>
            <a:ext cx="3108960" cy="0"/>
          </a:xfrm>
          <a:prstGeom prst="line">
            <a:avLst/>
          </a:prstGeom>
          <a:noFill/>
          <a:ln w="9525">
            <a:solidFill>
              <a:srgbClr val="EDE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669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</a:t>
            </a:r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PAID PILOTS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3108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3A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3383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3241E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Q3–Q4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794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Midwest expansion + AAHOA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4617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AAHOA: 20,000+ properties, many Indian-American-owned. Same diaspora-trust dynamic — warm intros from Wave 1 operators.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5577840"/>
            <a:ext cx="3108960" cy="0"/>
          </a:xfrm>
          <a:prstGeom prst="line">
            <a:avLst/>
          </a:prstGeom>
          <a:noFill/>
          <a:ln w="9525">
            <a:solidFill>
              <a:srgbClr val="EDE7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5669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</a:t>
            </a:r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PAYING PROPERTIES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3108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3A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38360" y="3383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3241E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3794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IHG franchisee forums + PMS marketplaces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03920" y="4617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Listed integrations on HotelKey &amp; Opera marketplaces. Ride Wave 1–2 case studies into IHG owner groups — 40% of our TAM.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5577840"/>
            <a:ext cx="3108960" cy="0"/>
          </a:xfrm>
          <a:prstGeom prst="line">
            <a:avLst/>
          </a:prstGeom>
          <a:noFill/>
          <a:ln w="9525">
            <a:solidFill>
              <a:srgbClr val="EDE7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5669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</a:t>
            </a:r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 PROPERTIES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plan, </a:t>
            </a:r>
            <a:pPr indent="0" marL="0">
              <a:buNone/>
            </a:pPr>
            <a:r>
              <a:rPr lang="en-US" sz="40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 property</a:t>
            </a:r>
            <a:pPr indent="0" marL="0">
              <a:buNone/>
            </a:pPr>
            <a:r>
              <a:rPr lang="en-US" sz="4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576072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$1,799 / property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3538728"/>
            <a:ext cx="5120640" cy="0"/>
          </a:xfrm>
          <a:prstGeom prst="line">
            <a:avLst/>
          </a:prstGeom>
          <a:noFill/>
          <a:ln w="6350">
            <a:solidFill>
              <a:srgbClr val="EDE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3685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$17,990 (2 months free)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4251960"/>
            <a:ext cx="5120640" cy="0"/>
          </a:xfrm>
          <a:prstGeom prst="line">
            <a:avLst/>
          </a:prstGeom>
          <a:noFill/>
          <a:ln w="6350">
            <a:solidFill>
              <a:srgbClr val="EDE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982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43982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$2,500 one-time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4965192"/>
            <a:ext cx="5120640" cy="0"/>
          </a:xfrm>
          <a:prstGeom prst="line">
            <a:avLst/>
          </a:prstGeom>
          <a:noFill/>
          <a:ln w="6350">
            <a:solidFill>
              <a:srgbClr val="EDE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1114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51114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$1.25 / call above 2,000 / mo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 (TARGET)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(at scale)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~70%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3611880"/>
            <a:ext cx="4572000" cy="0"/>
          </a:xfrm>
          <a:prstGeom prst="line">
            <a:avLst/>
          </a:prstGeom>
          <a:noFill/>
          <a:ln w="6350">
            <a:solidFill>
              <a:srgbClr val="03241E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CAC (diaspora-led)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~$1,500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4069080"/>
            <a:ext cx="4572000" cy="0"/>
          </a:xfrm>
          <a:prstGeom prst="line">
            <a:avLst/>
          </a:prstGeom>
          <a:noFill/>
          <a:ln w="6350">
            <a:solidFill>
              <a:srgbClr val="03241E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 (18-mo avg retention)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~$30K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4526280"/>
            <a:ext cx="4572000" cy="0"/>
          </a:xfrm>
          <a:prstGeom prst="line">
            <a:avLst/>
          </a:prstGeom>
          <a:noFill/>
          <a:ln w="6350">
            <a:solidFill>
              <a:srgbClr val="03241E">
                <a:alpha val="1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 / CAC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~20×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0" y="4983480"/>
            <a:ext cx="4572000" cy="0"/>
          </a:xfrm>
          <a:prstGeom prst="line">
            <a:avLst/>
          </a:prstGeom>
          <a:noFill/>
          <a:ln w="6350">
            <a:solidFill>
              <a:srgbClr val="03241E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24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 months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0" y="5440680"/>
            <a:ext cx="4572000" cy="0"/>
          </a:xfrm>
          <a:prstGeom prst="line">
            <a:avLst/>
          </a:prstGeom>
          <a:noFill/>
          <a:ln w="6350">
            <a:solidFill>
              <a:srgbClr val="03241E">
                <a:alpha val="1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5623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3241E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Diaspora-driven GTM keeps CAC below SaaS average. Structural pricing advantage — still roughly half a call center's cost, while </a:t>
            </a:r>
            <a:pPr indent="0" marL="0">
              <a:buNone/>
            </a:pPr>
            <a:r>
              <a:rPr lang="en-US" sz="1150" i="1" dirty="0">
                <a:solidFill>
                  <a:srgbClr val="03241E">
                    <a:alpha val="85000"/>
                  </a:srgbClr>
                </a:solidFill>
                <a:highlight>
                  <a:srgbClr val="F2C62C"/>
                </a:highlight>
                <a:latin typeface="Fraunces" pitchFamily="34" charset="0"/>
                <a:ea typeface="Fraunces" pitchFamily="34" charset="-122"/>
                <a:cs typeface="Fraunces" pitchFamily="34" charset="-120"/>
              </a:rPr>
              <a:t>capturing bookings they can't</a:t>
            </a:r>
            <a:pPr indent="0" marL="0">
              <a:buNone/>
            </a:pPr>
            <a:r>
              <a:rPr lang="en-US" sz="1150" i="1" dirty="0">
                <a:solidFill>
                  <a:srgbClr val="03241E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category is validated. </a:t>
            </a:r>
            <a:pPr indent="0" marL="0">
              <a:buNone/>
            </a:pPr>
            <a:r>
              <a:rPr lang="en-US" sz="38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Our lane is empty</a:t>
            </a:r>
            <a:pPr indent="0" marL="0">
              <a:buNone/>
            </a:pPr>
            <a:r>
              <a:rPr lang="en-US" sz="38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10789920" cy="38862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0789920" cy="41148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06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324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9476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324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86600" y="2606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324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 WIN / POSITION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Canary Technologies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3017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24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messaging, upsells, digital check-in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86600" y="30175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24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Text, not voice. Their </a:t>
            </a:r>
            <a:pPr indent="0" marL="0">
              <a:buNone/>
            </a:pPr>
            <a:r>
              <a:rPr lang="en-US" sz="1050" b="1" dirty="0">
                <a:solidFill>
                  <a:srgbClr val="0324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~$500M valuation</a:t>
            </a:r>
            <a:pPr indent="0" marL="0">
              <a:buNone/>
            </a:pPr>
            <a:r>
              <a:rPr lang="en-US" sz="1050" dirty="0">
                <a:solidFill>
                  <a:srgbClr val="0324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validates the category — we own the other half.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3657600"/>
            <a:ext cx="10241280" cy="0"/>
          </a:xfrm>
          <a:prstGeom prst="line">
            <a:avLst/>
          </a:prstGeom>
          <a:noFill/>
          <a:ln w="6350">
            <a:solidFill>
              <a:srgbClr val="EDE7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657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Duve · Mews 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24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PMS-native guest messaging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86600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24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text-first. Same gap on the phone line.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" y="4297680"/>
            <a:ext cx="10241280" cy="0"/>
          </a:xfrm>
          <a:prstGeom prst="line">
            <a:avLst/>
          </a:prstGeom>
          <a:noFill/>
          <a:ln w="6350">
            <a:solidFill>
              <a:srgbClr val="EDE7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97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iroomfinder · InnRoad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9476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24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call centers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86600" y="4297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24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Expensive, slow, don't capture bookings. </a:t>
            </a:r>
            <a:pPr indent="0" marL="0">
              <a:buNone/>
            </a:pPr>
            <a:r>
              <a:rPr lang="en-US" sz="1050" b="1" dirty="0">
                <a:solidFill>
                  <a:srgbClr val="0324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incumbent we directly replace.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" y="4937760"/>
            <a:ext cx="10241280" cy="0"/>
          </a:xfrm>
          <a:prstGeom prst="line">
            <a:avLst/>
          </a:prstGeom>
          <a:noFill/>
          <a:ln w="6350">
            <a:solidFill>
              <a:srgbClr val="EDE7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937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Bland AI · Vapi · Retell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94760" y="4937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24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 voice AI platforms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86600" y="4937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24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hospitality vertical, no PMS integration, no domain workflows. DIY toolkits — not a product.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120" y="5577840"/>
            <a:ext cx="10241280" cy="0"/>
          </a:xfrm>
          <a:prstGeom prst="line">
            <a:avLst/>
          </a:prstGeom>
          <a:noFill/>
          <a:ln w="6350">
            <a:solidFill>
              <a:srgbClr val="EDE7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solidFill>
            <a:srgbClr val="03241E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5687568"/>
            <a:ext cx="1645920" cy="42062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794760" y="5577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BF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Voice-first · hospitality-specific · small-hotel-priced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086600" y="5577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241E">
                    <a:alpha val="95000"/>
                  </a:srgbClr>
                </a:solidFill>
                <a:highlight>
                  <a:srgbClr val="F2C62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White space. No one else is here.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Early signal from the </a:t>
            </a:r>
            <a:pPr indent="0" marL="0">
              <a:buNone/>
            </a:pPr>
            <a:r>
              <a:rPr lang="en-US" sz="4000" i="1" spc="-100" kern="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real world</a:t>
            </a:r>
            <a:pPr indent="0" marL="0">
              <a:buNone/>
            </a:pPr>
            <a:r>
              <a:rPr lang="en-US" sz="4000" spc="-100" kern="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2560320" cy="0"/>
          </a:xfrm>
          <a:prstGeom prst="line">
            <a:avLst/>
          </a:prstGeom>
          <a:noFill/>
          <a:ln w="9525">
            <a:solidFill>
              <a:srgbClr val="FDFBF7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34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spc="-300" kern="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[N]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8580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DFBF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PILOTS SIGNED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2697480"/>
            <a:ext cx="2560320" cy="0"/>
          </a:xfrm>
          <a:prstGeom prst="line">
            <a:avLst/>
          </a:prstGeom>
          <a:noFill/>
          <a:ln w="9525">
            <a:solidFill>
              <a:srgbClr val="FDFBF7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834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spc="-300" kern="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[$X]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47472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DFBF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MRR RUN-RATE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2697480"/>
            <a:ext cx="2560320" cy="0"/>
          </a:xfrm>
          <a:prstGeom prst="line">
            <a:avLst/>
          </a:prstGeom>
          <a:noFill/>
          <a:ln w="9525">
            <a:solidFill>
              <a:srgbClr val="FDFBF7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834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spc="-300" kern="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[N]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26364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DFBF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ANSWERED / MONTH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52560" y="2697480"/>
            <a:ext cx="2560320" cy="0"/>
          </a:xfrm>
          <a:prstGeom prst="line">
            <a:avLst/>
          </a:prstGeom>
          <a:noFill/>
          <a:ln w="9525">
            <a:solidFill>
              <a:srgbClr val="FDFBF7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834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spc="-300" kern="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[$X]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905256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DFBF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BOOKINGS CAPTURED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4754880"/>
            <a:ext cx="8229600" cy="1554480"/>
          </a:xfrm>
          <a:prstGeom prst="roundRect">
            <a:avLst>
              <a:gd name="adj" fmla="val 8824"/>
            </a:avLst>
          </a:prstGeom>
          <a:solidFill>
            <a:srgbClr val="FDFBF7">
              <a:alpha val="8000"/>
            </a:srgbClr>
          </a:solidFill>
          <a:ln w="6350">
            <a:solidFill>
              <a:srgbClr val="FDFBF7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46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"[GM quote — e.g. 'Arvy caught a $640 booking at 2am that would've gone to Booking.com. Sold me instantly.']"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852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BF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[GM name, property, city]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Built by people who've been </a:t>
            </a:r>
            <a:pPr indent="0" marL="0">
              <a:buNone/>
            </a:pPr>
            <a:r>
              <a:rPr lang="en-US" sz="40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 the line</a:t>
            </a:r>
            <a:pPr indent="0" marL="0">
              <a:buNone/>
            </a:pPr>
            <a:r>
              <a:rPr lang="en-US" sz="4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539496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926080"/>
            <a:ext cx="685800" cy="685800"/>
          </a:xfrm>
          <a:prstGeom prst="ellipse">
            <a:avLst/>
          </a:prstGeom>
          <a:solidFill>
            <a:srgbClr val="03241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26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Rakhmatjon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74520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3+ years in US hotel operations — front desk through ops at [HIE / Holiday Inn properties]. Bilingual EN/UZ. [~N hotelier relationships] across OH / KY.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606040"/>
            <a:ext cx="539496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926080"/>
            <a:ext cx="685800" cy="685800"/>
          </a:xfrm>
          <a:prstGeom prst="ellipse">
            <a:avLst/>
          </a:prstGeom>
          <a:solidFill>
            <a:srgbClr val="03241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926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5236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Nurislombek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52360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CO-FOUNDER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9319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[Engineer with voice AI / systems background — specific prior work]. Owns the streaming voice pipeline, PMS integrations, reliability.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623560"/>
            <a:ext cx="10789920" cy="0"/>
          </a:xfrm>
          <a:prstGeom prst="line">
            <a:avLst/>
          </a:prstGeom>
          <a:noFill/>
          <a:ln w="6350">
            <a:solidFill>
              <a:srgbClr val="03241E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[Advisor names — ideally 1 hospitality-ops veteran and 1 voice-AI / SaaS operator]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&amp; USE OF FUNDS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Land, repeat, </a:t>
            </a:r>
            <a:pPr indent="0" marL="0">
              <a:buNone/>
            </a:pPr>
            <a:r>
              <a:rPr lang="en-US" sz="38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expand</a:t>
            </a:r>
            <a:pPr indent="0" marL="0">
              <a:buNone/>
            </a:pPr>
            <a:r>
              <a:rPr lang="en-US" sz="38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3429000" cy="2468880"/>
          </a:xfrm>
          <a:prstGeom prst="roundRect">
            <a:avLst>
              <a:gd name="adj" fmla="val 5556"/>
            </a:avLst>
          </a:prstGeom>
          <a:solidFill>
            <a:srgbClr val="FDFBF7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41E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2697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Q1–Q2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Land the wedge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3703320"/>
            <a:ext cx="73152" cy="73152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576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paid Cincinnati pilots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4069080"/>
            <a:ext cx="73152" cy="73152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23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Harden product + voice quality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4434840"/>
            <a:ext cx="73152" cy="73152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3891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more PMS integrations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468880"/>
            <a:ext cx="3429000" cy="2468880"/>
          </a:xfrm>
          <a:prstGeom prst="roundRect">
            <a:avLst>
              <a:gd name="adj" fmla="val 5556"/>
            </a:avLst>
          </a:prstGeom>
          <a:solidFill>
            <a:srgbClr val="FDFBF7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41E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2697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Q3–Q4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Prove repeatability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17720" y="3703320"/>
            <a:ext cx="73152" cy="73152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6576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paying properties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4069080"/>
            <a:ext cx="73152" cy="73152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4023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~$1M ARR run-rate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4434840"/>
            <a:ext cx="73152" cy="73152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43891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2 hires: 1 SE + 1 GTM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01000" y="2468880"/>
            <a:ext cx="3429000" cy="2468880"/>
          </a:xfrm>
          <a:prstGeom prst="roundRect">
            <a:avLst>
              <a:gd name="adj" fmla="val 5556"/>
            </a:avLst>
          </a:prstGeom>
          <a:solidFill>
            <a:srgbClr val="FDFBF7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41E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35440" y="2697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7532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Expand beyond Midwest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75320" y="3703320"/>
            <a:ext cx="73152" cy="73152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36576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 properties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75320" y="4069080"/>
            <a:ext cx="73152" cy="73152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4023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AAHOA + marketplace distribution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75320" y="4434840"/>
            <a:ext cx="73152" cy="73152"/>
          </a:xfrm>
          <a:prstGeom prst="ellipse">
            <a:avLst/>
          </a:prstGeom>
          <a:solidFill>
            <a:srgbClr val="073A2F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43891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#2 (Spanish)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5166360"/>
            <a:ext cx="10789920" cy="0"/>
          </a:xfrm>
          <a:prstGeom prst="line">
            <a:avLst/>
          </a:prstGeom>
          <a:noFill/>
          <a:ln w="6350">
            <a:solidFill>
              <a:srgbClr val="03241E">
                <a:alpha val="1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03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5669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50%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85800" y="6172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" y="6400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reliability, PMS integrations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74720" y="5669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30%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3474720" y="6172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74720" y="6400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 hire, referrals, diaspora events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5669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15%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263640" y="6172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PMS partnerships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63640" y="6400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Certifications, marketplace listings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52560" y="5669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5%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9052560" y="6172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&amp; legal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Compliance, contracts,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03241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365760" cy="0"/>
          </a:xfrm>
          <a:prstGeom prst="line">
            <a:avLst/>
          </a:prstGeom>
          <a:noFill/>
          <a:ln w="9525">
            <a:solidFill>
              <a:srgbClr val="03241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Multiple credible buyers. </a:t>
            </a:r>
            <a:pPr indent="0" marL="0">
              <a:buNone/>
            </a:pPr>
            <a:r>
              <a:rPr lang="en-US" sz="3800" i="1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3–5 year window</a:t>
            </a:r>
            <a:pPr indent="0" marL="0">
              <a:buNone/>
            </a:pPr>
            <a:r>
              <a:rPr lang="en-US" sz="3800" spc="-100" kern="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752344"/>
            <a:ext cx="1261872" cy="530352"/>
          </a:xfrm>
          <a:prstGeom prst="roundRect">
            <a:avLst>
              <a:gd name="adj" fmla="val 10345"/>
            </a:avLst>
          </a:prstGeom>
          <a:solidFill>
            <a:srgbClr val="FDFBF7"/>
          </a:solidFill>
          <a:ln w="5080">
            <a:solidFill>
              <a:srgbClr val="CFD4D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788920"/>
            <a:ext cx="118872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Canary Technologies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286000" y="3154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complements their messaging suite. At ~10× ARR comps, $25M ARR → ~$250M exit.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55664" y="2752344"/>
            <a:ext cx="1261872" cy="530352"/>
          </a:xfrm>
          <a:prstGeom prst="roundRect">
            <a:avLst>
              <a:gd name="adj" fmla="val 10345"/>
            </a:avLst>
          </a:prstGeom>
          <a:solidFill>
            <a:srgbClr val="FDFBF7"/>
          </a:solidFill>
          <a:ln w="5080">
            <a:solidFill>
              <a:srgbClr val="CFD4D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2788920"/>
            <a:ext cx="118872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384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IHG Hotels &amp; Resorts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863840" y="3154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of our TAM are IHG franchisees. Vertical tech acquisition precedent.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800" y="402336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77824" y="4169664"/>
            <a:ext cx="1261872" cy="530352"/>
          </a:xfrm>
          <a:prstGeom prst="roundRect">
            <a:avLst>
              <a:gd name="adj" fmla="val 10345"/>
            </a:avLst>
          </a:prstGeom>
          <a:solidFill>
            <a:srgbClr val="FDFBF7"/>
          </a:solidFill>
          <a:ln w="5080">
            <a:solidFill>
              <a:srgbClr val="CFD4D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4400" y="4206240"/>
            <a:ext cx="118872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860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Oracle Hospitality (Opera PMS)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286000" y="4572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is the missing layer on the Opera stack.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63640" y="402336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FD4D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55664" y="4169664"/>
            <a:ext cx="1261872" cy="530352"/>
          </a:xfrm>
          <a:prstGeom prst="roundRect">
            <a:avLst>
              <a:gd name="adj" fmla="val 10345"/>
            </a:avLst>
          </a:prstGeom>
          <a:solidFill>
            <a:srgbClr val="FDFBF7"/>
          </a:solidFill>
          <a:ln w="5080">
            <a:solidFill>
              <a:srgbClr val="CFD4D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92240" y="4206240"/>
            <a:ext cx="1188720" cy="457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455664" y="4672584"/>
            <a:ext cx="1261872" cy="530352"/>
          </a:xfrm>
          <a:prstGeom prst="roundRect">
            <a:avLst>
              <a:gd name="adj" fmla="val 10345"/>
            </a:avLst>
          </a:prstGeom>
          <a:solidFill>
            <a:srgbClr val="FDFBF7"/>
          </a:solidFill>
          <a:ln w="5080">
            <a:solidFill>
              <a:srgbClr val="CFD4D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92240" y="4709160"/>
            <a:ext cx="118872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6384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Cloudbeds · SiteMinder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7863840" y="4572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platforms adding voice to their bundle.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85800" y="5669280"/>
            <a:ext cx="10789920" cy="0"/>
          </a:xfrm>
          <a:prstGeom prst="line">
            <a:avLst/>
          </a:prstGeom>
          <a:noFill/>
          <a:ln w="6350">
            <a:solidFill>
              <a:srgbClr val="03241E">
                <a:alpha val="2000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8580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COMPARABLE EXITS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85800" y="60807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ALICE → Actabl (2021) · Cendyn → Accor-Sapient · Duetto → GrowthCurve ($270M, 2022) · MeetingPackage → Lightspeed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67512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324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OUTCOME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675120" y="6035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3241E"/>
                </a:solidFill>
                <a:highlight>
                  <a:srgbClr val="F2C62C"/>
                </a:highlight>
                <a:latin typeface="Fraunces" pitchFamily="34" charset="0"/>
                <a:ea typeface="Fraunces" pitchFamily="34" charset="-122"/>
                <a:cs typeface="Fraunces" pitchFamily="34" charset="-120"/>
              </a:rPr>
              <a:t>$150M–$500M acquisition</a:t>
            </a:r>
            <a:pPr indent="0" marL="0">
              <a:buNone/>
            </a:pPr>
            <a:r>
              <a:rPr lang="en-US" sz="1600" i="1" dirty="0">
                <a:solidFill>
                  <a:srgbClr val="0324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, 3–5 years.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15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548640"/>
            <a:ext cx="1280160" cy="365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243584"/>
            <a:ext cx="36576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7373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spc="-300" kern="0" dirty="0">
                <a:solidFill>
                  <a:srgbClr val="FD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Raising [$X]</a:t>
            </a:r>
            <a:endParaRPr lang="en-US" sz="8800" dirty="0"/>
          </a:p>
        </p:txBody>
      </p:sp>
      <p:sp>
        <p:nvSpPr>
          <p:cNvPr id="7" name="Text 4"/>
          <p:cNvSpPr/>
          <p:nvPr/>
        </p:nvSpPr>
        <p:spPr>
          <a:xfrm>
            <a:off x="685800" y="3291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DFBF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at [$Y] pre-money.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85800" y="4206240"/>
            <a:ext cx="7772400" cy="2011680"/>
          </a:xfrm>
          <a:prstGeom prst="roundRect">
            <a:avLst>
              <a:gd name="adj" fmla="val 6818"/>
            </a:avLst>
          </a:prstGeom>
          <a:solidFill>
            <a:srgbClr val="FDFBF7">
              <a:alpha val="7000"/>
            </a:srgbClr>
          </a:solidFill>
          <a:ln w="6350">
            <a:solidFill>
              <a:srgbClr val="FDFBF7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MILESTONES THIS ROUND FUNDS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6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paying properties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093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6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50932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Seven-figure ARR run-rate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5431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6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543153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Cincinnati playbook — documented and replicable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5769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6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88720" y="57698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10 IHG franchisees outside the diaspora wedge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DFBF7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♥  Made in Cincinnati  ·  Arryve  ·  arryve.com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Arryve — Seed pitch</dc:title>
  <dc:subject>PptxGenJS Presentation</dc:subject>
  <dc:creator>Arryve</dc:creator>
  <cp:lastModifiedBy>Arryve</cp:lastModifiedBy>
  <cp:revision>1</cp:revision>
  <dcterms:created xsi:type="dcterms:W3CDTF">2026-04-17T07:46:23Z</dcterms:created>
  <dcterms:modified xsi:type="dcterms:W3CDTF">2026-04-17T07:46:23Z</dcterms:modified>
</cp:coreProperties>
</file>